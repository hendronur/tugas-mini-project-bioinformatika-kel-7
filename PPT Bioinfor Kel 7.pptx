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45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45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97329" y="498781"/>
            <a:ext cx="8561705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24126" y="3165361"/>
            <a:ext cx="12862560" cy="329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450" b="0" i="0">
                <a:solidFill>
                  <a:srgbClr val="333446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mailto:hello@reallygreatsite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66184" y="0"/>
            <a:ext cx="16622394" cy="10287000"/>
            <a:chOff x="1666184" y="0"/>
            <a:chExt cx="16622394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184" y="2713303"/>
              <a:ext cx="14965700" cy="485118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1357" y="0"/>
              <a:ext cx="11744339" cy="10286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50311" y="9859731"/>
              <a:ext cx="7837687" cy="4272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26927" y="3797299"/>
            <a:ext cx="1219200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70"/>
              <a:t>ANALISIS</a:t>
            </a:r>
            <a:r>
              <a:rPr dirty="0" sz="4500" spc="40"/>
              <a:t> </a:t>
            </a:r>
            <a:r>
              <a:rPr dirty="0" sz="4500" spc="-95"/>
              <a:t>INTERAKSI</a:t>
            </a:r>
            <a:r>
              <a:rPr dirty="0" sz="4500" spc="40"/>
              <a:t> </a:t>
            </a:r>
            <a:r>
              <a:rPr dirty="0" sz="4500" spc="-195"/>
              <a:t>MOLEKULER</a:t>
            </a:r>
            <a:r>
              <a:rPr dirty="0" sz="4500" spc="45"/>
              <a:t> </a:t>
            </a:r>
            <a:r>
              <a:rPr dirty="0" sz="4500" spc="-75"/>
              <a:t>CO-</a:t>
            </a:r>
            <a:r>
              <a:rPr dirty="0" sz="4500" spc="-260"/>
              <a:t>CRYSTALIZED</a:t>
            </a:r>
            <a:r>
              <a:rPr dirty="0" sz="4500" spc="40"/>
              <a:t> </a:t>
            </a:r>
            <a:r>
              <a:rPr dirty="0" sz="4500" spc="-515"/>
              <a:t>PEG</a:t>
            </a:r>
            <a:endParaRPr sz="4500"/>
          </a:p>
        </p:txBody>
      </p:sp>
      <p:sp>
        <p:nvSpPr>
          <p:cNvPr id="7" name="object 7" descr=""/>
          <p:cNvSpPr txBox="1"/>
          <p:nvPr/>
        </p:nvSpPr>
        <p:spPr>
          <a:xfrm>
            <a:off x="3519230" y="4483099"/>
            <a:ext cx="11607165" cy="1625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83485" marR="5080" indent="-2471420">
              <a:lnSpc>
                <a:spcPct val="116700"/>
              </a:lnSpc>
              <a:spcBef>
                <a:spcPts val="95"/>
              </a:spcBef>
            </a:pPr>
            <a:r>
              <a:rPr dirty="0" sz="4500" spc="-75">
                <a:solidFill>
                  <a:srgbClr val="333446"/>
                </a:solidFill>
                <a:latin typeface="Arial Narrow"/>
                <a:cs typeface="Arial Narrow"/>
              </a:rPr>
              <a:t>DAN</a:t>
            </a:r>
            <a:r>
              <a:rPr dirty="0" sz="4500" spc="-15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370">
                <a:solidFill>
                  <a:srgbClr val="333446"/>
                </a:solidFill>
                <a:latin typeface="Arial Narrow"/>
                <a:cs typeface="Arial Narrow"/>
              </a:rPr>
              <a:t>EDO</a:t>
            </a:r>
            <a:r>
              <a:rPr dirty="0" sz="4500" spc="114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180">
                <a:solidFill>
                  <a:srgbClr val="333446"/>
                </a:solidFill>
                <a:latin typeface="Arial Narrow"/>
                <a:cs typeface="Arial Narrow"/>
              </a:rPr>
              <a:t>TERHADAP</a:t>
            </a:r>
            <a:r>
              <a:rPr dirty="0" sz="45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295">
                <a:solidFill>
                  <a:srgbClr val="333446"/>
                </a:solidFill>
                <a:latin typeface="Arial Narrow"/>
                <a:cs typeface="Arial Narrow"/>
              </a:rPr>
              <a:t>PROTEIN</a:t>
            </a:r>
            <a:r>
              <a:rPr dirty="0" sz="4500" spc="55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75">
                <a:solidFill>
                  <a:srgbClr val="333446"/>
                </a:solidFill>
                <a:latin typeface="Arial Narrow"/>
                <a:cs typeface="Arial Narrow"/>
              </a:rPr>
              <a:t>MATRIX</a:t>
            </a:r>
            <a:r>
              <a:rPr dirty="0" sz="45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>
                <a:solidFill>
                  <a:srgbClr val="333446"/>
                </a:solidFill>
                <a:latin typeface="Arial Narrow"/>
                <a:cs typeface="Arial Narrow"/>
              </a:rPr>
              <a:t>M1</a:t>
            </a:r>
            <a:r>
              <a:rPr dirty="0" sz="45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210">
                <a:solidFill>
                  <a:srgbClr val="333446"/>
                </a:solidFill>
                <a:latin typeface="Arial Narrow"/>
                <a:cs typeface="Arial Narrow"/>
              </a:rPr>
              <a:t>INFLUENZA </a:t>
            </a:r>
            <a:r>
              <a:rPr dirty="0" sz="4500" spc="-325">
                <a:solidFill>
                  <a:srgbClr val="333446"/>
                </a:solidFill>
                <a:latin typeface="Arial Narrow"/>
                <a:cs typeface="Arial Narrow"/>
              </a:rPr>
              <a:t>DENGAN</a:t>
            </a:r>
            <a:r>
              <a:rPr dirty="0" sz="4500" spc="34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270">
                <a:solidFill>
                  <a:srgbClr val="333446"/>
                </a:solidFill>
                <a:latin typeface="Arial Narrow"/>
                <a:cs typeface="Arial Narrow"/>
              </a:rPr>
              <a:t>MOLECULAR</a:t>
            </a:r>
            <a:r>
              <a:rPr dirty="0" sz="4500" spc="345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4500" spc="-340">
                <a:solidFill>
                  <a:srgbClr val="333446"/>
                </a:solidFill>
                <a:latin typeface="Arial Narrow"/>
                <a:cs typeface="Arial Narrow"/>
              </a:rPr>
              <a:t>DOCKING</a:t>
            </a:r>
            <a:endParaRPr sz="4500">
              <a:latin typeface="Arial Narrow"/>
              <a:cs typeface="Arial Narro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392143" y="7563405"/>
            <a:ext cx="5798185" cy="132080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algn="ctr" marL="422275" marR="351790">
              <a:lnSpc>
                <a:spcPts val="2030"/>
              </a:lnSpc>
              <a:spcBef>
                <a:spcPts val="225"/>
              </a:spcBef>
            </a:pPr>
            <a:r>
              <a:rPr dirty="0" sz="1750" spc="-155">
                <a:solidFill>
                  <a:srgbClr val="333446"/>
                </a:solidFill>
                <a:latin typeface="Arial"/>
                <a:cs typeface="Arial"/>
              </a:rPr>
              <a:t>SYAFINA</a:t>
            </a:r>
            <a:r>
              <a:rPr dirty="0" sz="1750" spc="2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40">
                <a:solidFill>
                  <a:srgbClr val="333446"/>
                </a:solidFill>
                <a:latin typeface="Arial"/>
                <a:cs typeface="Arial"/>
              </a:rPr>
              <a:t>ALYA</a:t>
            </a:r>
            <a:r>
              <a:rPr dirty="0" sz="1750" spc="2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80">
                <a:solidFill>
                  <a:srgbClr val="333446"/>
                </a:solidFill>
                <a:latin typeface="Arial"/>
                <a:cs typeface="Arial"/>
              </a:rPr>
              <a:t>DARINDRANI</a:t>
            </a:r>
            <a:r>
              <a:rPr dirty="0" sz="1750" spc="2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333446"/>
                </a:solidFill>
                <a:latin typeface="Arial"/>
                <a:cs typeface="Arial"/>
              </a:rPr>
              <a:t>(23/518016/BI/11278) </a:t>
            </a:r>
            <a:r>
              <a:rPr dirty="0" sz="1750" spc="-105">
                <a:solidFill>
                  <a:srgbClr val="333446"/>
                </a:solidFill>
                <a:latin typeface="Arial"/>
                <a:cs typeface="Arial"/>
              </a:rPr>
              <a:t>NUR'AINI</a:t>
            </a:r>
            <a:r>
              <a:rPr dirty="0" sz="1750" spc="1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60">
                <a:solidFill>
                  <a:srgbClr val="333446"/>
                </a:solidFill>
                <a:latin typeface="Arial"/>
                <a:cs typeface="Arial"/>
              </a:rPr>
              <a:t>AZZAHRO</a:t>
            </a:r>
            <a:r>
              <a:rPr dirty="0" sz="1750" spc="1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70">
                <a:solidFill>
                  <a:srgbClr val="333446"/>
                </a:solidFill>
                <a:latin typeface="Arial"/>
                <a:cs typeface="Arial"/>
              </a:rPr>
              <a:t>(23/520825/BI/11333)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ts val="1925"/>
              </a:lnSpc>
            </a:pPr>
            <a:r>
              <a:rPr dirty="0" sz="1750" spc="-114">
                <a:solidFill>
                  <a:srgbClr val="333446"/>
                </a:solidFill>
                <a:latin typeface="Arial"/>
                <a:cs typeface="Arial"/>
              </a:rPr>
              <a:t>E'NINA</a:t>
            </a:r>
            <a:r>
              <a:rPr dirty="0" sz="1750" spc="1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90">
                <a:solidFill>
                  <a:srgbClr val="333446"/>
                </a:solidFill>
                <a:latin typeface="Arial"/>
                <a:cs typeface="Arial"/>
              </a:rPr>
              <a:t>NAIZILA</a:t>
            </a:r>
            <a:r>
              <a:rPr dirty="0" sz="1750" spc="2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70">
                <a:solidFill>
                  <a:srgbClr val="333446"/>
                </a:solidFill>
                <a:latin typeface="Arial"/>
                <a:cs typeface="Arial"/>
              </a:rPr>
              <a:t>AZAHRA</a:t>
            </a:r>
            <a:r>
              <a:rPr dirty="0" sz="1750" spc="2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60">
                <a:solidFill>
                  <a:srgbClr val="333446"/>
                </a:solidFill>
                <a:latin typeface="Arial"/>
                <a:cs typeface="Arial"/>
              </a:rPr>
              <a:t>SURBAKTI</a:t>
            </a:r>
            <a:r>
              <a:rPr dirty="0" sz="1750" spc="2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333446"/>
                </a:solidFill>
                <a:latin typeface="Arial"/>
                <a:cs typeface="Arial"/>
              </a:rPr>
              <a:t>(23/521556/BI/11348)</a:t>
            </a:r>
            <a:endParaRPr sz="1750">
              <a:latin typeface="Arial"/>
              <a:cs typeface="Arial"/>
            </a:endParaRPr>
          </a:p>
          <a:p>
            <a:pPr algn="ctr" marL="89535" marR="19050">
              <a:lnSpc>
                <a:spcPts val="2030"/>
              </a:lnSpc>
              <a:spcBef>
                <a:spcPts val="90"/>
              </a:spcBef>
            </a:pPr>
            <a:r>
              <a:rPr dirty="0" sz="1750" spc="-175">
                <a:solidFill>
                  <a:srgbClr val="333446"/>
                </a:solidFill>
                <a:latin typeface="Arial"/>
                <a:cs typeface="Arial"/>
              </a:rPr>
              <a:t>AISYAH</a:t>
            </a:r>
            <a:r>
              <a:rPr dirty="0" sz="1750" spc="3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40">
                <a:solidFill>
                  <a:srgbClr val="333446"/>
                </a:solidFill>
                <a:latin typeface="Arial"/>
                <a:cs typeface="Arial"/>
              </a:rPr>
              <a:t>FADHILLAH</a:t>
            </a:r>
            <a:r>
              <a:rPr dirty="0" sz="1750" spc="3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75">
                <a:solidFill>
                  <a:srgbClr val="333446"/>
                </a:solidFill>
                <a:latin typeface="Arial"/>
                <a:cs typeface="Arial"/>
              </a:rPr>
              <a:t>AYUNINGRUM</a:t>
            </a:r>
            <a:r>
              <a:rPr dirty="0" sz="1750" spc="3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333446"/>
                </a:solidFill>
                <a:latin typeface="Arial"/>
                <a:cs typeface="Arial"/>
              </a:rPr>
              <a:t>(23/521662/BI/11350) </a:t>
            </a:r>
            <a:r>
              <a:rPr dirty="0" sz="1750" spc="-204">
                <a:solidFill>
                  <a:srgbClr val="333446"/>
                </a:solidFill>
                <a:latin typeface="Arial"/>
                <a:cs typeface="Arial"/>
              </a:rPr>
              <a:t>DESI</a:t>
            </a:r>
            <a:r>
              <a:rPr dirty="0" sz="1750" spc="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50">
                <a:solidFill>
                  <a:srgbClr val="333446"/>
                </a:solidFill>
                <a:latin typeface="Arial"/>
                <a:cs typeface="Arial"/>
              </a:rPr>
              <a:t>TRIANA</a:t>
            </a:r>
            <a:r>
              <a:rPr dirty="0" sz="1750" spc="1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-155">
                <a:solidFill>
                  <a:srgbClr val="333446"/>
                </a:solidFill>
                <a:latin typeface="Arial"/>
                <a:cs typeface="Arial"/>
              </a:rPr>
              <a:t>WATI</a:t>
            </a:r>
            <a:r>
              <a:rPr dirty="0" sz="1750" spc="1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1750" spc="45">
                <a:solidFill>
                  <a:srgbClr val="333446"/>
                </a:solidFill>
                <a:latin typeface="Arial"/>
                <a:cs typeface="Arial"/>
              </a:rPr>
              <a:t>(23/522581/BI/11372)</a:t>
            </a:r>
            <a:endParaRPr sz="1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33344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25124" y="36789"/>
              <a:ext cx="7462875" cy="1024889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5869084" cy="10286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619853"/>
            <a:ext cx="8425815" cy="1480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 spc="-75"/>
              <a:t>L</a:t>
            </a:r>
            <a:r>
              <a:rPr dirty="0" sz="9550" spc="-885"/>
              <a:t>A</a:t>
            </a:r>
            <a:r>
              <a:rPr dirty="0" sz="9550" spc="-390"/>
              <a:t>T</a:t>
            </a:r>
            <a:r>
              <a:rPr dirty="0" sz="9550" spc="-70"/>
              <a:t>A</a:t>
            </a:r>
            <a:r>
              <a:rPr dirty="0" sz="9550" spc="-65"/>
              <a:t>R</a:t>
            </a:r>
            <a:r>
              <a:rPr dirty="0" sz="9550" spc="695"/>
              <a:t> </a:t>
            </a:r>
            <a:r>
              <a:rPr dirty="0" sz="9550" spc="-385"/>
              <a:t>BELAKANG</a:t>
            </a:r>
            <a:endParaRPr sz="9550"/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163562"/>
            <a:ext cx="5408930" cy="10123805"/>
            <a:chOff x="0" y="163562"/>
            <a:chExt cx="5408930" cy="1012380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3562"/>
              <a:ext cx="5408492" cy="1012343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8250" y="2331043"/>
              <a:ext cx="114300" cy="1143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8250" y="3226393"/>
              <a:ext cx="114300" cy="1143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8250" y="4569417"/>
              <a:ext cx="114300" cy="1143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8250" y="5464767"/>
              <a:ext cx="114300" cy="1143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8250" y="6807792"/>
              <a:ext cx="114300" cy="1143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8250" y="8150817"/>
              <a:ext cx="114300" cy="11430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518890" y="2106888"/>
            <a:ext cx="12316460" cy="718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199"/>
              </a:lnSpc>
              <a:spcBef>
                <a:spcPts val="100"/>
              </a:spcBef>
            </a:pP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2550" spc="5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550" spc="5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tipe</a:t>
            </a:r>
            <a:r>
              <a:rPr dirty="0" sz="2550" spc="5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5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0">
                <a:solidFill>
                  <a:srgbClr val="333446"/>
                </a:solidFill>
                <a:latin typeface="Lucida Sans Unicode"/>
                <a:cs typeface="Lucida Sans Unicode"/>
              </a:rPr>
              <a:t>tetap</a:t>
            </a:r>
            <a:r>
              <a:rPr dirty="0" sz="2550" spc="5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333446"/>
                </a:solidFill>
                <a:latin typeface="Lucida Sans Unicode"/>
                <a:cs typeface="Lucida Sans Unicode"/>
              </a:rPr>
              <a:t>menjadi</a:t>
            </a:r>
            <a:r>
              <a:rPr dirty="0" sz="2550" spc="5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210">
                <a:solidFill>
                  <a:srgbClr val="333446"/>
                </a:solidFill>
                <a:latin typeface="Lucida Sans Unicode"/>
                <a:cs typeface="Lucida Sans Unicode"/>
              </a:rPr>
              <a:t>ancaman</a:t>
            </a:r>
            <a:r>
              <a:rPr dirty="0" sz="2550" spc="5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5">
                <a:solidFill>
                  <a:srgbClr val="333446"/>
                </a:solidFill>
                <a:latin typeface="Lucida Sans Unicode"/>
                <a:cs typeface="Lucida Sans Unicode"/>
              </a:rPr>
              <a:t>kesehatan</a:t>
            </a:r>
            <a:r>
              <a:rPr dirty="0" sz="2550" spc="5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333446"/>
                </a:solidFill>
                <a:latin typeface="Lucida Sans Unicode"/>
                <a:cs typeface="Lucida Sans Unicode"/>
              </a:rPr>
              <a:t>global</a:t>
            </a:r>
            <a:r>
              <a:rPr dirty="0" sz="2550" spc="5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0">
                <a:solidFill>
                  <a:srgbClr val="333446"/>
                </a:solidFill>
                <a:latin typeface="Lucida Sans Unicode"/>
                <a:cs typeface="Lucida Sans Unicode"/>
              </a:rPr>
              <a:t>karena </a:t>
            </a:r>
            <a:r>
              <a:rPr dirty="0" sz="2550" spc="135">
                <a:solidFill>
                  <a:srgbClr val="333446"/>
                </a:solidFill>
                <a:latin typeface="Lucida Sans Unicode"/>
                <a:cs typeface="Lucida Sans Unicode"/>
              </a:rPr>
              <a:t>kemampuannya</a:t>
            </a:r>
            <a:r>
              <a:rPr dirty="0" sz="255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20">
                <a:solidFill>
                  <a:srgbClr val="333446"/>
                </a:solidFill>
                <a:latin typeface="Lucida Sans Unicode"/>
                <a:cs typeface="Lucida Sans Unicode"/>
              </a:rPr>
              <a:t>menyebabkan</a:t>
            </a:r>
            <a:r>
              <a:rPr dirty="0" sz="255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5">
                <a:solidFill>
                  <a:srgbClr val="333446"/>
                </a:solidFill>
                <a:latin typeface="Lucida Sans Unicode"/>
                <a:cs typeface="Lucida Sans Unicode"/>
              </a:rPr>
              <a:t>epidemi</a:t>
            </a:r>
            <a:r>
              <a:rPr dirty="0" sz="255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55">
                <a:solidFill>
                  <a:srgbClr val="333446"/>
                </a:solidFill>
                <a:latin typeface="Lucida Sans Unicode"/>
                <a:cs typeface="Lucida Sans Unicode"/>
              </a:rPr>
              <a:t>pandemi.</a:t>
            </a:r>
            <a:endParaRPr sz="25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99"/>
              </a:lnSpc>
            </a:pPr>
            <a:r>
              <a:rPr dirty="0" sz="2550" spc="5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50">
                <a:solidFill>
                  <a:srgbClr val="333446"/>
                </a:solidFill>
                <a:latin typeface="Lucida Sans Unicode"/>
                <a:cs typeface="Lucida Sans Unicode"/>
              </a:rPr>
              <a:t>Matrix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810">
                <a:solidFill>
                  <a:srgbClr val="333446"/>
                </a:solidFill>
                <a:latin typeface="Lucida Sans Unicode"/>
                <a:cs typeface="Lucida Sans Unicode"/>
              </a:rPr>
              <a:t>1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45">
                <a:solidFill>
                  <a:srgbClr val="333446"/>
                </a:solidFill>
                <a:latin typeface="Lucida Sans Unicode"/>
                <a:cs typeface="Lucida Sans Unicode"/>
              </a:rPr>
              <a:t>(M1)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55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333446"/>
                </a:solidFill>
                <a:latin typeface="Lucida Sans Unicode"/>
                <a:cs typeface="Lucida Sans Unicode"/>
              </a:rPr>
              <a:t>berperan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0">
                <a:solidFill>
                  <a:srgbClr val="333446"/>
                </a:solidFill>
                <a:latin typeface="Lucida Sans Unicode"/>
                <a:cs typeface="Lucida Sans Unicode"/>
              </a:rPr>
              <a:t>penting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70">
                <a:solidFill>
                  <a:srgbClr val="333446"/>
                </a:solidFill>
                <a:latin typeface="Lucida Sans Unicode"/>
                <a:cs typeface="Lucida Sans Unicode"/>
              </a:rPr>
              <a:t>dalam</a:t>
            </a:r>
            <a:r>
              <a:rPr dirty="0" sz="2550" spc="4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20">
                <a:solidFill>
                  <a:srgbClr val="333446"/>
                </a:solidFill>
                <a:latin typeface="Lucida Sans Unicode"/>
                <a:cs typeface="Lucida Sans Unicode"/>
              </a:rPr>
              <a:t>menjaga</a:t>
            </a:r>
            <a:r>
              <a:rPr dirty="0" sz="255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35">
                <a:solidFill>
                  <a:srgbClr val="333446"/>
                </a:solidFill>
                <a:latin typeface="Lucida Sans Unicode"/>
                <a:cs typeface="Lucida Sans Unicode"/>
              </a:rPr>
              <a:t>stabilitas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5">
                <a:solidFill>
                  <a:srgbClr val="333446"/>
                </a:solidFill>
                <a:latin typeface="Lucida Sans Unicode"/>
                <a:cs typeface="Lucida Sans Unicode"/>
              </a:rPr>
              <a:t>struktural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5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5">
                <a:solidFill>
                  <a:srgbClr val="333446"/>
                </a:solidFill>
                <a:latin typeface="Lucida Sans Unicode"/>
                <a:cs typeface="Lucida Sans Unicode"/>
              </a:rPr>
              <a:t>proses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5">
                <a:solidFill>
                  <a:srgbClr val="333446"/>
                </a:solidFill>
                <a:latin typeface="Lucida Sans Unicode"/>
                <a:cs typeface="Lucida Sans Unicode"/>
              </a:rPr>
              <a:t>virion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0">
                <a:solidFill>
                  <a:srgbClr val="333446"/>
                </a:solidFill>
                <a:latin typeface="Lucida Sans Unicode"/>
                <a:cs typeface="Lucida Sans Unicode"/>
              </a:rPr>
              <a:t>assembly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di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70">
                <a:solidFill>
                  <a:srgbClr val="333446"/>
                </a:solidFill>
                <a:latin typeface="Lucida Sans Unicode"/>
                <a:cs typeface="Lucida Sans Unicode"/>
              </a:rPr>
              <a:t>dalam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">
                <a:solidFill>
                  <a:srgbClr val="333446"/>
                </a:solidFill>
                <a:latin typeface="Lucida Sans Unicode"/>
                <a:cs typeface="Lucida Sans Unicode"/>
              </a:rPr>
              <a:t>sel</a:t>
            </a:r>
            <a:r>
              <a:rPr dirty="0" sz="2550" spc="45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5">
                <a:solidFill>
                  <a:srgbClr val="333446"/>
                </a:solidFill>
                <a:latin typeface="Lucida Sans Unicode"/>
                <a:cs typeface="Lucida Sans Unicode"/>
              </a:rPr>
              <a:t>inang</a:t>
            </a:r>
            <a:r>
              <a:rPr dirty="0" sz="2550" spc="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25">
                <a:solidFill>
                  <a:srgbClr val="333446"/>
                </a:solidFill>
                <a:latin typeface="Lucida Sans Unicode"/>
                <a:cs typeface="Lucida Sans Unicode"/>
              </a:rPr>
              <a:t>(Zambrano</a:t>
            </a:r>
            <a:r>
              <a:rPr dirty="0" sz="2550" spc="-1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0" i="1">
                <a:solidFill>
                  <a:srgbClr val="333446"/>
                </a:solidFill>
                <a:latin typeface="Verdana"/>
                <a:cs typeface="Verdana"/>
              </a:rPr>
              <a:t>et</a:t>
            </a:r>
            <a:r>
              <a:rPr dirty="0" sz="2550" spc="-140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spc="-125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550" spc="-125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55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55">
                <a:solidFill>
                  <a:srgbClr val="333446"/>
                </a:solidFill>
                <a:latin typeface="Lucida Sans Unicode"/>
                <a:cs typeface="Lucida Sans Unicode"/>
              </a:rPr>
              <a:t>2020).</a:t>
            </a:r>
            <a:endParaRPr sz="25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99"/>
              </a:lnSpc>
            </a:pP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Penelitian</a:t>
            </a:r>
            <a:r>
              <a:rPr dirty="0" sz="2550" spc="2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ini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menggunakan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struktur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kristal</a:t>
            </a:r>
            <a:r>
              <a:rPr dirty="0" sz="2550" spc="2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415">
                <a:solidFill>
                  <a:srgbClr val="333446"/>
                </a:solidFill>
                <a:latin typeface="Lucida Sans Unicode"/>
                <a:cs typeface="Lucida Sans Unicode"/>
              </a:rPr>
              <a:t>M1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2550" spc="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0">
                <a:solidFill>
                  <a:srgbClr val="333446"/>
                </a:solidFill>
                <a:latin typeface="Lucida Sans Unicode"/>
                <a:cs typeface="Lucida Sans Unicode"/>
              </a:rPr>
              <a:t>dengan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kode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PDB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5CQE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30">
                <a:solidFill>
                  <a:srgbClr val="333446"/>
                </a:solidFill>
                <a:latin typeface="Lucida Sans Unicode"/>
                <a:cs typeface="Lucida Sans Unicode"/>
              </a:rPr>
              <a:t>sebagai</a:t>
            </a:r>
            <a:r>
              <a:rPr dirty="0" sz="255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333446"/>
                </a:solidFill>
                <a:latin typeface="Lucida Sans Unicode"/>
                <a:cs typeface="Lucida Sans Unicode"/>
              </a:rPr>
              <a:t>target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5">
                <a:solidFill>
                  <a:srgbClr val="333446"/>
                </a:solidFill>
                <a:latin typeface="Lucida Sans Unicode"/>
                <a:cs typeface="Lucida Sans Unicode"/>
              </a:rPr>
              <a:t>analisis</a:t>
            </a:r>
            <a:r>
              <a:rPr dirty="0" sz="255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in</a:t>
            </a:r>
            <a:r>
              <a:rPr dirty="0" sz="2550" spc="-105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silico</a:t>
            </a:r>
            <a:r>
              <a:rPr dirty="0" sz="2550" spc="-190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spc="195">
                <a:solidFill>
                  <a:srgbClr val="333446"/>
                </a:solidFill>
                <a:latin typeface="Lucida Sans Unicode"/>
                <a:cs typeface="Lucida Sans Unicode"/>
              </a:rPr>
              <a:t>(Sha</a:t>
            </a:r>
            <a:r>
              <a:rPr dirty="0" sz="255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30">
                <a:solidFill>
                  <a:srgbClr val="333446"/>
                </a:solidFill>
                <a:latin typeface="Lucida Sans Unicode"/>
                <a:cs typeface="Lucida Sans Unicode"/>
              </a:rPr>
              <a:t>Luo,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2016).</a:t>
            </a:r>
            <a:endParaRPr sz="25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99"/>
              </a:lnSpc>
            </a:pP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Dilakukan</a:t>
            </a:r>
            <a:r>
              <a:rPr dirty="0" sz="2550" spc="12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95">
                <a:solidFill>
                  <a:srgbClr val="333446"/>
                </a:solidFill>
                <a:latin typeface="Lucida Sans Unicode"/>
                <a:cs typeface="Lucida Sans Unicode"/>
              </a:rPr>
              <a:t>pendekatan</a:t>
            </a:r>
            <a:r>
              <a:rPr dirty="0" sz="2550" spc="1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molecular</a:t>
            </a:r>
            <a:r>
              <a:rPr dirty="0" sz="2550" spc="90" i="1">
                <a:solidFill>
                  <a:srgbClr val="333446"/>
                </a:solidFill>
                <a:latin typeface="Verdana"/>
                <a:cs typeface="Verdana"/>
              </a:rPr>
              <a:t> 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docking</a:t>
            </a:r>
            <a:r>
              <a:rPr dirty="0" sz="2550" spc="45" i="1">
                <a:solidFill>
                  <a:srgbClr val="333446"/>
                </a:solidFill>
                <a:latin typeface="Verdana"/>
                <a:cs typeface="Verdana"/>
              </a:rPr>
              <a:t> 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untuk</a:t>
            </a:r>
            <a:r>
              <a:rPr dirty="0" sz="2550" spc="13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100">
                <a:solidFill>
                  <a:srgbClr val="333446"/>
                </a:solidFill>
                <a:latin typeface="Lucida Sans Unicode"/>
                <a:cs typeface="Lucida Sans Unicode"/>
              </a:rPr>
              <a:t>mengevaluasi</a:t>
            </a:r>
            <a:r>
              <a:rPr dirty="0" sz="2550" spc="1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potensi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afinitas</a:t>
            </a:r>
            <a:r>
              <a:rPr dirty="0" sz="2550" spc="229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145">
                <a:solidFill>
                  <a:srgbClr val="333446"/>
                </a:solidFill>
                <a:latin typeface="Lucida Sans Unicode"/>
                <a:cs typeface="Lucida Sans Unicode"/>
              </a:rPr>
              <a:t>senyawa</a:t>
            </a:r>
            <a:r>
              <a:rPr dirty="0" sz="2550" spc="2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45">
                <a:solidFill>
                  <a:srgbClr val="333446"/>
                </a:solidFill>
                <a:latin typeface="Lucida Sans Unicode"/>
                <a:cs typeface="Lucida Sans Unicode"/>
              </a:rPr>
              <a:t>Polyethylene</a:t>
            </a:r>
            <a:r>
              <a:rPr dirty="0" sz="2550" spc="2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50">
                <a:solidFill>
                  <a:srgbClr val="333446"/>
                </a:solidFill>
                <a:latin typeface="Lucida Sans Unicode"/>
                <a:cs typeface="Lucida Sans Unicode"/>
              </a:rPr>
              <a:t>Glycol</a:t>
            </a:r>
            <a:r>
              <a:rPr dirty="0" sz="2550" spc="2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(PEG)</a:t>
            </a:r>
            <a:r>
              <a:rPr dirty="0" sz="2550" spc="2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2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1,2‑Ethanediol</a:t>
            </a:r>
            <a:r>
              <a:rPr dirty="0" sz="2550" spc="24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550" spc="55">
                <a:solidFill>
                  <a:srgbClr val="333446"/>
                </a:solidFill>
                <a:latin typeface="Lucida Sans Unicode"/>
                <a:cs typeface="Lucida Sans Unicode"/>
              </a:rPr>
              <a:t>(EDO) </a:t>
            </a:r>
            <a:r>
              <a:rPr dirty="0" sz="2550" spc="110">
                <a:solidFill>
                  <a:srgbClr val="333446"/>
                </a:solidFill>
                <a:latin typeface="Lucida Sans Unicode"/>
                <a:cs typeface="Lucida Sans Unicode"/>
              </a:rPr>
              <a:t>terhadap</a:t>
            </a:r>
            <a:r>
              <a:rPr dirty="0" sz="255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55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400">
                <a:solidFill>
                  <a:srgbClr val="333446"/>
                </a:solidFill>
                <a:latin typeface="Lucida Sans Unicode"/>
                <a:cs typeface="Lucida Sans Unicode"/>
              </a:rPr>
              <a:t>M1.</a:t>
            </a:r>
            <a:endParaRPr sz="25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99"/>
              </a:lnSpc>
            </a:pPr>
            <a:r>
              <a:rPr dirty="0" sz="2550" spc="155">
                <a:solidFill>
                  <a:srgbClr val="333446"/>
                </a:solidFill>
                <a:latin typeface="Lucida Sans Unicode"/>
                <a:cs typeface="Lucida Sans Unicode"/>
              </a:rPr>
              <a:t>Senyawa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333446"/>
                </a:solidFill>
                <a:latin typeface="Lucida Sans Unicode"/>
                <a:cs typeface="Lucida Sans Unicode"/>
              </a:rPr>
              <a:t>berbasis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40">
                <a:solidFill>
                  <a:srgbClr val="333446"/>
                </a:solidFill>
                <a:latin typeface="Lucida Sans Unicode"/>
                <a:cs typeface="Lucida Sans Unicode"/>
              </a:rPr>
              <a:t>glikol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memiliki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5">
                <a:solidFill>
                  <a:srgbClr val="333446"/>
                </a:solidFill>
                <a:latin typeface="Lucida Sans Unicode"/>
                <a:cs typeface="Lucida Sans Unicode"/>
              </a:rPr>
              <a:t>gugus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35">
                <a:solidFill>
                  <a:srgbClr val="333446"/>
                </a:solidFill>
                <a:latin typeface="Lucida Sans Unicode"/>
                <a:cs typeface="Lucida Sans Unicode"/>
              </a:rPr>
              <a:t>hidroksil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40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85">
                <a:solidFill>
                  <a:srgbClr val="333446"/>
                </a:solidFill>
                <a:latin typeface="Lucida Sans Unicode"/>
                <a:cs typeface="Lucida Sans Unicode"/>
              </a:rPr>
              <a:t>mampu</a:t>
            </a:r>
            <a:r>
              <a:rPr dirty="0" sz="255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333446"/>
                </a:solidFill>
                <a:latin typeface="Lucida Sans Unicode"/>
                <a:cs typeface="Lucida Sans Unicode"/>
              </a:rPr>
              <a:t>membentuk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550" spc="385">
                <a:solidFill>
                  <a:srgbClr val="333446"/>
                </a:solidFill>
                <a:latin typeface="Lucida Sans Unicode"/>
                <a:cs typeface="Lucida Sans Unicode"/>
              </a:rPr>
              <a:t>  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hidrogen</a:t>
            </a:r>
            <a:r>
              <a:rPr dirty="0" sz="2550" spc="395">
                <a:solidFill>
                  <a:srgbClr val="333446"/>
                </a:solidFill>
                <a:latin typeface="Lucida Sans Unicode"/>
                <a:cs typeface="Lucida Sans Unicode"/>
              </a:rPr>
              <a:t>   </a:t>
            </a:r>
            <a:r>
              <a:rPr dirty="0" sz="2550" spc="125">
                <a:solidFill>
                  <a:srgbClr val="333446"/>
                </a:solidFill>
                <a:latin typeface="Lucida Sans Unicode"/>
                <a:cs typeface="Lucida Sans Unicode"/>
              </a:rPr>
              <a:t>dengan</a:t>
            </a:r>
            <a:r>
              <a:rPr dirty="0" sz="2550" spc="395">
                <a:solidFill>
                  <a:srgbClr val="333446"/>
                </a:solidFill>
                <a:latin typeface="Lucida Sans Unicode"/>
                <a:cs typeface="Lucida Sans Unicode"/>
              </a:rPr>
              <a:t>  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550" spc="395">
                <a:solidFill>
                  <a:srgbClr val="333446"/>
                </a:solidFill>
                <a:latin typeface="Lucida Sans Unicode"/>
                <a:cs typeface="Lucida Sans Unicode"/>
              </a:rPr>
              <a:t>  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protein,</a:t>
            </a:r>
            <a:r>
              <a:rPr dirty="0" sz="2550" spc="400">
                <a:solidFill>
                  <a:srgbClr val="333446"/>
                </a:solidFill>
                <a:latin typeface="Lucida Sans Unicode"/>
                <a:cs typeface="Lucida Sans Unicode"/>
              </a:rPr>
              <a:t>   </a:t>
            </a:r>
            <a:r>
              <a:rPr dirty="0" sz="2550" spc="85">
                <a:solidFill>
                  <a:srgbClr val="333446"/>
                </a:solidFill>
                <a:latin typeface="Lucida Sans Unicode"/>
                <a:cs typeface="Lucida Sans Unicode"/>
              </a:rPr>
              <a:t>sehingga</a:t>
            </a:r>
            <a:r>
              <a:rPr dirty="0" sz="2550" spc="395">
                <a:solidFill>
                  <a:srgbClr val="333446"/>
                </a:solidFill>
                <a:latin typeface="Lucida Sans Unicode"/>
                <a:cs typeface="Lucida Sans Unicode"/>
              </a:rPr>
              <a:t>  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berpotensi </a:t>
            </a:r>
            <a:r>
              <a:rPr dirty="0" sz="2550" spc="60">
                <a:solidFill>
                  <a:srgbClr val="333446"/>
                </a:solidFill>
                <a:latin typeface="Lucida Sans Unicode"/>
                <a:cs typeface="Lucida Sans Unicode"/>
              </a:rPr>
              <a:t>meningkatkan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stabilitas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0">
                <a:solidFill>
                  <a:srgbClr val="333446"/>
                </a:solidFill>
                <a:latin typeface="Lucida Sans Unicode"/>
                <a:cs typeface="Lucida Sans Unicode"/>
              </a:rPr>
              <a:t>ligan–protein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(Panuszko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et</a:t>
            </a:r>
            <a:r>
              <a:rPr dirty="0" sz="2550" spc="-15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spc="-130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550" spc="-130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2016).</a:t>
            </a:r>
            <a:endParaRPr sz="25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199"/>
              </a:lnSpc>
            </a:pP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Analisis</a:t>
            </a:r>
            <a:r>
              <a:rPr dirty="0" sz="2550" spc="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dilakukan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 menggunakan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AutoDock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333446"/>
                </a:solidFill>
                <a:latin typeface="Lucida Sans Unicode"/>
                <a:cs typeface="Lucida Sans Unicode"/>
              </a:rPr>
              <a:t>Vina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45">
                <a:solidFill>
                  <a:srgbClr val="333446"/>
                </a:solidFill>
                <a:latin typeface="Lucida Sans Unicode"/>
                <a:cs typeface="Lucida Sans Unicode"/>
              </a:rPr>
              <a:t>platform</a:t>
            </a:r>
            <a:r>
              <a:rPr dirty="0" sz="2550" spc="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PyRx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untuk 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membandingkan</a:t>
            </a:r>
            <a:r>
              <a:rPr dirty="0" sz="2550" spc="2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binding</a:t>
            </a:r>
            <a:r>
              <a:rPr dirty="0" sz="2550" spc="254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affinity</a:t>
            </a:r>
            <a:r>
              <a:rPr dirty="0" sz="2550" spc="175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2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0">
                <a:solidFill>
                  <a:srgbClr val="333446"/>
                </a:solidFill>
                <a:latin typeface="Lucida Sans Unicode"/>
                <a:cs typeface="Lucida Sans Unicode"/>
              </a:rPr>
              <a:t>pola</a:t>
            </a:r>
            <a:r>
              <a:rPr dirty="0" sz="2550" spc="2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550" spc="2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80">
                <a:solidFill>
                  <a:srgbClr val="333446"/>
                </a:solidFill>
                <a:latin typeface="Lucida Sans Unicode"/>
                <a:cs typeface="Lucida Sans Unicode"/>
              </a:rPr>
              <a:t>kedua</a:t>
            </a:r>
            <a:r>
              <a:rPr dirty="0" sz="2550" spc="2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ligan</a:t>
            </a:r>
            <a:r>
              <a:rPr dirty="0" sz="2550" spc="2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0">
                <a:solidFill>
                  <a:srgbClr val="333446"/>
                </a:solidFill>
                <a:latin typeface="Lucida Sans Unicode"/>
                <a:cs typeface="Lucida Sans Unicode"/>
              </a:rPr>
              <a:t>terhadap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55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333446"/>
                </a:solidFill>
                <a:latin typeface="Lucida Sans Unicode"/>
                <a:cs typeface="Lucida Sans Unicode"/>
              </a:rPr>
              <a:t>target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(Ren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i="1">
                <a:solidFill>
                  <a:srgbClr val="333446"/>
                </a:solidFill>
                <a:latin typeface="Verdana"/>
                <a:cs typeface="Verdana"/>
              </a:rPr>
              <a:t>et</a:t>
            </a:r>
            <a:r>
              <a:rPr dirty="0" sz="2550" spc="-110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550" spc="-130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550" spc="-130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55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2021).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94485" y="0"/>
            <a:ext cx="9893514" cy="480226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32753" y="5999030"/>
            <a:ext cx="48418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7700" algn="l"/>
                <a:tab pos="3347720" algn="l"/>
                <a:tab pos="4171315" algn="l"/>
              </a:tabLst>
            </a:pPr>
            <a:r>
              <a:rPr dirty="0" sz="2600" spc="105">
                <a:solidFill>
                  <a:srgbClr val="333446"/>
                </a:solidFill>
                <a:latin typeface="Lucida Sans Unicode"/>
                <a:cs typeface="Lucida Sans Unicode"/>
              </a:rPr>
              <a:t>mengenai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potensi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13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2753" y="6395194"/>
            <a:ext cx="48418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588010" algn="l"/>
                <a:tab pos="1920875" algn="l"/>
                <a:tab pos="2399030" algn="l"/>
                <a:tab pos="3477895" algn="l"/>
              </a:tabLst>
            </a:pPr>
            <a:r>
              <a:rPr dirty="0" sz="2600" spc="-45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333446"/>
                </a:solidFill>
                <a:latin typeface="Lucida Sans Unicode"/>
                <a:cs typeface="Lucida Sans Unicode"/>
              </a:rPr>
              <a:t>sebagai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inhibitor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protein </a:t>
            </a:r>
            <a:r>
              <a:rPr dirty="0" sz="2600" spc="-440">
                <a:solidFill>
                  <a:srgbClr val="333446"/>
                </a:solidFill>
                <a:latin typeface="Lucida Sans Unicode"/>
                <a:cs typeface="Lucida Sans Unicode"/>
              </a:rPr>
              <a:t>M1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140">
                <a:solidFill>
                  <a:srgbClr val="333446"/>
                </a:solidFill>
                <a:latin typeface="Lucida Sans Unicode"/>
                <a:cs typeface="Lucida Sans Unicode"/>
              </a:rPr>
              <a:t>secara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in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silico,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120">
                <a:solidFill>
                  <a:srgbClr val="333446"/>
                </a:solidFill>
                <a:latin typeface="Lucida Sans Unicode"/>
                <a:cs typeface="Lucida Sans Unicode"/>
              </a:rPr>
              <a:t>sebagai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2753" y="7309594"/>
            <a:ext cx="48418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2106930" algn="l"/>
              </a:tabLst>
            </a:pPr>
            <a:r>
              <a:rPr dirty="0" sz="2600" spc="120">
                <a:solidFill>
                  <a:srgbClr val="333446"/>
                </a:solidFill>
                <a:latin typeface="Lucida Sans Unicode"/>
                <a:cs typeface="Lucida Sans Unicode"/>
              </a:rPr>
              <a:t>dasar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135">
                <a:solidFill>
                  <a:srgbClr val="333446"/>
                </a:solidFill>
                <a:latin typeface="Lucida Sans Unicode"/>
                <a:cs typeface="Lucida Sans Unicode"/>
              </a:rPr>
              <a:t>pengembangan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antivirus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berbasis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poliol.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90644" y="5480794"/>
            <a:ext cx="484251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45">
                <a:solidFill>
                  <a:srgbClr val="333446"/>
                </a:solidFill>
                <a:latin typeface="Lucida Sans Unicode"/>
                <a:cs typeface="Lucida Sans Unicode"/>
              </a:rPr>
              <a:t>Menjadi</a:t>
            </a:r>
            <a:r>
              <a:rPr dirty="0" sz="2600" spc="495">
                <a:solidFill>
                  <a:srgbClr val="333446"/>
                </a:solidFill>
                <a:latin typeface="Lucida Sans Unicode"/>
                <a:cs typeface="Lucida Sans Unicode"/>
              </a:rPr>
              <a:t>   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referensi</a:t>
            </a:r>
            <a:r>
              <a:rPr dirty="0" sz="2600" spc="500">
                <a:solidFill>
                  <a:srgbClr val="333446"/>
                </a:solidFill>
                <a:latin typeface="Lucida Sans Unicode"/>
                <a:cs typeface="Lucida Sans Unicode"/>
              </a:rPr>
              <a:t>    </a:t>
            </a:r>
            <a:r>
              <a:rPr dirty="0" sz="2600" spc="85">
                <a:solidFill>
                  <a:srgbClr val="333446"/>
                </a:solidFill>
                <a:latin typeface="Lucida Sans Unicode"/>
                <a:cs typeface="Lucida Sans Unicode"/>
              </a:rPr>
              <a:t>bagi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penelitian</a:t>
            </a:r>
            <a:r>
              <a:rPr dirty="0" sz="2600" spc="32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virtual</a:t>
            </a:r>
            <a:r>
              <a:rPr dirty="0" sz="2600" spc="32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screening </a:t>
            </a: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kandidat</a:t>
            </a:r>
            <a:r>
              <a:rPr dirty="0" sz="2600" spc="330">
                <a:solidFill>
                  <a:srgbClr val="333446"/>
                </a:solidFill>
                <a:latin typeface="Lucida Sans Unicode"/>
                <a:cs typeface="Lucida Sans Unicode"/>
              </a:rPr>
              <a:t>   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antivirus</a:t>
            </a:r>
            <a:r>
              <a:rPr dirty="0" sz="2600" spc="335">
                <a:solidFill>
                  <a:srgbClr val="333446"/>
                </a:solidFill>
                <a:latin typeface="Lucida Sans Unicode"/>
                <a:cs typeface="Lucida Sans Unicode"/>
              </a:rPr>
              <a:t>    </a:t>
            </a:r>
            <a:r>
              <a:rPr dirty="0" sz="2600" spc="70">
                <a:solidFill>
                  <a:srgbClr val="333446"/>
                </a:solidFill>
                <a:latin typeface="Lucida Sans Unicode"/>
                <a:cs typeface="Lucida Sans Unicode"/>
              </a:rPr>
              <a:t>baru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90644" y="6852394"/>
            <a:ext cx="48418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berbasis</a:t>
            </a:r>
            <a:r>
              <a:rPr dirty="0" sz="2600" spc="43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glikol</a:t>
            </a:r>
            <a:r>
              <a:rPr dirty="0" sz="2600" spc="434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43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poliol </a:t>
            </a:r>
            <a:r>
              <a:rPr dirty="0" sz="2600" spc="110">
                <a:solidFill>
                  <a:srgbClr val="333446"/>
                </a:solidFill>
                <a:latin typeface="Lucida Sans Unicode"/>
                <a:cs typeface="Lucida Sans Unicode"/>
              </a:rPr>
              <a:t>terhadap</a:t>
            </a:r>
            <a:r>
              <a:rPr dirty="0" sz="2600" spc="26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600" spc="26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struktural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2600" spc="-1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600" spc="-1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A.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313198" y="5494830"/>
            <a:ext cx="484187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Menambah</a:t>
            </a:r>
            <a:r>
              <a:rPr dirty="0" sz="2600" spc="2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kontribusi</a:t>
            </a:r>
            <a:r>
              <a:rPr dirty="0" sz="2600" spc="2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kajian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313198" y="5890993"/>
            <a:ext cx="484251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2052955" algn="l"/>
                <a:tab pos="2663190" algn="l"/>
              </a:tabLst>
            </a:pP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ilmiah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	</a:t>
            </a:r>
            <a:r>
              <a:rPr dirty="0" sz="2600" spc="120">
                <a:solidFill>
                  <a:srgbClr val="333446"/>
                </a:solidFill>
                <a:latin typeface="Lucida Sans Unicode"/>
                <a:cs typeface="Lucida Sans Unicode"/>
              </a:rPr>
              <a:t>penggunaan </a:t>
            </a: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molecular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docking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039025" y="6348193"/>
            <a:ext cx="111633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 marR="5080" indent="-88900">
              <a:lnSpc>
                <a:spcPct val="115399"/>
              </a:lnSpc>
              <a:spcBef>
                <a:spcPts val="100"/>
              </a:spcBef>
            </a:pPr>
            <a:r>
              <a:rPr dirty="0" sz="2600" spc="160">
                <a:solidFill>
                  <a:srgbClr val="333446"/>
                </a:solidFill>
                <a:latin typeface="Lucida Sans Unicode"/>
                <a:cs typeface="Lucida Sans Unicode"/>
              </a:rPr>
              <a:t>dalam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ligan-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313198" y="6805393"/>
            <a:ext cx="4842510" cy="9398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1849120" algn="l"/>
              </a:tabLst>
            </a:pPr>
            <a:r>
              <a:rPr dirty="0" sz="2600" spc="35">
                <a:solidFill>
                  <a:srgbClr val="333446"/>
                </a:solidFill>
                <a:latin typeface="Lucida Sans Unicode"/>
                <a:cs typeface="Lucida Sans Unicode"/>
              </a:rPr>
              <a:t>analisis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1529715" algn="l"/>
                <a:tab pos="3355340" algn="l"/>
                <a:tab pos="3985260" algn="l"/>
              </a:tabLst>
            </a:pP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A,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serta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313198" y="7719793"/>
            <a:ext cx="484251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  <a:tabLst>
                <a:tab pos="1810385" algn="l"/>
                <a:tab pos="2590165" algn="l"/>
                <a:tab pos="3904615" algn="l"/>
              </a:tabLst>
            </a:pP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mendukung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5">
                <a:solidFill>
                  <a:srgbClr val="333446"/>
                </a:solidFill>
                <a:latin typeface="Lucida Sans Unicode"/>
                <a:cs typeface="Lucida Sans Unicode"/>
              </a:rPr>
              <a:t>pengembangan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pipeline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in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silico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untuk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313198" y="8695229"/>
            <a:ext cx="42081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135">
                <a:solidFill>
                  <a:srgbClr val="333446"/>
                </a:solidFill>
                <a:latin typeface="Lucida Sans Unicode"/>
                <a:cs typeface="Lucida Sans Unicode"/>
              </a:rPr>
              <a:t>penemuan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10">
                <a:solidFill>
                  <a:srgbClr val="333446"/>
                </a:solidFill>
                <a:latin typeface="Lucida Sans Unicode"/>
                <a:cs typeface="Lucida Sans Unicode"/>
              </a:rPr>
              <a:t>obat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antiviral.</a:t>
            </a:r>
            <a:endParaRPr sz="2600">
              <a:latin typeface="Lucida Sans Unicode"/>
              <a:cs typeface="Lucida Sans Unicod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0"/>
            <a:ext cx="2695575" cy="8655685"/>
            <a:chOff x="0" y="0"/>
            <a:chExt cx="2695575" cy="8655685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694980" cy="865546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942" y="280827"/>
              <a:ext cx="1943099" cy="2981321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864091" y="840602"/>
            <a:ext cx="9248775" cy="1480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 spc="-600"/>
              <a:t>TUJUAN</a:t>
            </a:r>
            <a:r>
              <a:rPr dirty="0" sz="9550" spc="665"/>
              <a:t> </a:t>
            </a:r>
            <a:r>
              <a:rPr dirty="0" sz="9550"/>
              <a:t>&amp;</a:t>
            </a:r>
            <a:r>
              <a:rPr dirty="0" sz="9550" spc="660"/>
              <a:t> </a:t>
            </a:r>
            <a:r>
              <a:rPr dirty="0" sz="9550" spc="-310"/>
              <a:t>M</a:t>
            </a:r>
            <a:r>
              <a:rPr dirty="0" sz="9550" spc="-305"/>
              <a:t>A</a:t>
            </a:r>
            <a:r>
              <a:rPr dirty="0" sz="9550" spc="-310"/>
              <a:t>N</a:t>
            </a:r>
            <a:r>
              <a:rPr dirty="0" sz="9550" spc="-665"/>
              <a:t>F</a:t>
            </a:r>
            <a:r>
              <a:rPr dirty="0" sz="9550" spc="-305"/>
              <a:t>A</a:t>
            </a:r>
            <a:r>
              <a:rPr dirty="0" sz="9550" spc="-1120"/>
              <a:t>A</a:t>
            </a:r>
            <a:r>
              <a:rPr dirty="0" sz="9550" spc="-300"/>
              <a:t>T</a:t>
            </a:r>
            <a:endParaRPr sz="9550"/>
          </a:p>
        </p:txBody>
      </p:sp>
      <p:sp>
        <p:nvSpPr>
          <p:cNvPr id="18" name="object 18" descr=""/>
          <p:cNvSpPr txBox="1"/>
          <p:nvPr/>
        </p:nvSpPr>
        <p:spPr>
          <a:xfrm>
            <a:off x="1132753" y="4628834"/>
            <a:ext cx="4841875" cy="1334770"/>
          </a:xfrm>
          <a:prstGeom prst="rect">
            <a:avLst/>
          </a:prstGeom>
        </p:spPr>
        <p:txBody>
          <a:bodyPr wrap="square" lIns="0" tIns="252730" rIns="0" bIns="0" rtlCol="0" vert="horz">
            <a:spAutoFit/>
          </a:bodyPr>
          <a:lstStyle/>
          <a:p>
            <a:pPr algn="ctr" marL="753745">
              <a:lnSpc>
                <a:spcPct val="100000"/>
              </a:lnSpc>
              <a:spcBef>
                <a:spcPts val="1990"/>
              </a:spcBef>
            </a:pPr>
            <a:r>
              <a:rPr dirty="0" sz="3150" spc="35" i="1">
                <a:solidFill>
                  <a:srgbClr val="333446"/>
                </a:solidFill>
                <a:latin typeface="Verdana"/>
                <a:cs typeface="Verdana"/>
              </a:rPr>
              <a:t>MANFAAT</a:t>
            </a:r>
            <a:endParaRPr sz="3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  <a:tabLst>
                <a:tab pos="2659380" algn="l"/>
                <a:tab pos="4030345" algn="l"/>
              </a:tabLst>
            </a:pPr>
            <a:r>
              <a:rPr dirty="0" sz="2600" spc="45">
                <a:solidFill>
                  <a:srgbClr val="333446"/>
                </a:solidFill>
                <a:latin typeface="Lucida Sans Unicode"/>
                <a:cs typeface="Lucida Sans Unicode"/>
              </a:rPr>
              <a:t>Memberikan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data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135">
                <a:solidFill>
                  <a:srgbClr val="333446"/>
                </a:solidFill>
                <a:latin typeface="Lucida Sans Unicode"/>
                <a:cs typeface="Lucida Sans Unicode"/>
              </a:rPr>
              <a:t>awal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32753" y="2515714"/>
            <a:ext cx="15375255" cy="1783080"/>
          </a:xfrm>
          <a:prstGeom prst="rect">
            <a:avLst/>
          </a:prstGeom>
        </p:spPr>
        <p:txBody>
          <a:bodyPr wrap="square" lIns="0" tIns="245110" rIns="0" bIns="0" rtlCol="0" vert="horz">
            <a:spAutoFit/>
          </a:bodyPr>
          <a:lstStyle/>
          <a:p>
            <a:pPr marL="1994535">
              <a:lnSpc>
                <a:spcPct val="100000"/>
              </a:lnSpc>
              <a:spcBef>
                <a:spcPts val="1930"/>
              </a:spcBef>
            </a:pPr>
            <a:r>
              <a:rPr dirty="0" sz="3150" spc="-10" i="1">
                <a:solidFill>
                  <a:srgbClr val="333446"/>
                </a:solidFill>
                <a:latin typeface="Verdana"/>
                <a:cs typeface="Verdana"/>
              </a:rPr>
              <a:t>TUJUAN</a:t>
            </a:r>
            <a:endParaRPr sz="3150">
              <a:latin typeface="Verdana"/>
              <a:cs typeface="Verdana"/>
            </a:endParaRPr>
          </a:p>
          <a:p>
            <a:pPr marL="12700" marR="5080">
              <a:lnSpc>
                <a:spcPct val="115399"/>
              </a:lnSpc>
              <a:spcBef>
                <a:spcPts val="1019"/>
              </a:spcBef>
            </a:pP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Menganalisis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binding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affinity</a:t>
            </a:r>
            <a:r>
              <a:rPr dirty="0" sz="2600" spc="1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7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konformasi</a:t>
            </a:r>
            <a:r>
              <a:rPr dirty="0" sz="2600" spc="1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ligan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600" spc="1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7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600" spc="1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25">
                <a:solidFill>
                  <a:srgbClr val="333446"/>
                </a:solidFill>
                <a:latin typeface="Lucida Sans Unicode"/>
                <a:cs typeface="Lucida Sans Unicode"/>
              </a:rPr>
              <a:t>terhadap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protein </a:t>
            </a:r>
            <a:r>
              <a:rPr dirty="0" sz="2600" spc="-385">
                <a:solidFill>
                  <a:srgbClr val="333446"/>
                </a:solidFill>
                <a:latin typeface="Lucida Sans Unicode"/>
                <a:cs typeface="Lucida Sans Unicode"/>
              </a:rPr>
              <a:t>M1,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75">
                <a:solidFill>
                  <a:srgbClr val="333446"/>
                </a:solidFill>
                <a:latin typeface="Lucida Sans Unicode"/>
                <a:cs typeface="Lucida Sans Unicode"/>
              </a:rPr>
              <a:t>serta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333446"/>
                </a:solidFill>
                <a:latin typeface="Lucida Sans Unicode"/>
                <a:cs typeface="Lucida Sans Unicode"/>
              </a:rPr>
              <a:t>membandingkannya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5">
                <a:solidFill>
                  <a:srgbClr val="333446"/>
                </a:solidFill>
                <a:latin typeface="Lucida Sans Unicode"/>
                <a:cs typeface="Lucida Sans Unicode"/>
              </a:rPr>
              <a:t>dengan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kontrol</a:t>
            </a:r>
            <a:r>
              <a:rPr dirty="0" sz="260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20">
                <a:solidFill>
                  <a:srgbClr val="333446"/>
                </a:solidFill>
                <a:latin typeface="Lucida Sans Unicode"/>
                <a:cs typeface="Lucida Sans Unicode"/>
              </a:rPr>
              <a:t>(native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70">
                <a:solidFill>
                  <a:srgbClr val="333446"/>
                </a:solidFill>
                <a:latin typeface="Lucida Sans Unicode"/>
                <a:cs typeface="Lucida Sans Unicode"/>
              </a:rPr>
              <a:t>ligand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TRS).</a:t>
            </a:r>
            <a:endParaRPr sz="2600">
              <a:latin typeface="Lucida Sans Unicode"/>
              <a:cs typeface="Lucida Sans Unicode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4499" y="7669017"/>
            <a:ext cx="4499156" cy="2617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138708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4291" y="0"/>
            <a:ext cx="7903707" cy="60601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557409"/>
            <a:ext cx="3563569" cy="372959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68276" y="710595"/>
            <a:ext cx="3751579" cy="14808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 spc="-735"/>
              <a:t>METODE</a:t>
            </a:r>
            <a:endParaRPr sz="9550"/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4528" y="2849571"/>
            <a:ext cx="114300" cy="1143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34528" y="3744921"/>
            <a:ext cx="114300" cy="1143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34528" y="4640271"/>
            <a:ext cx="114300" cy="1143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82216" y="5083184"/>
            <a:ext cx="123825" cy="1238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82216" y="5978534"/>
            <a:ext cx="123825" cy="1238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82216" y="6873884"/>
            <a:ext cx="123825" cy="1238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82216" y="7769234"/>
            <a:ext cx="123825" cy="12382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515168" y="2625416"/>
            <a:ext cx="12292965" cy="584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  <a:tabLst>
                <a:tab pos="967105" algn="l"/>
                <a:tab pos="2388870" algn="l"/>
                <a:tab pos="4197985" algn="l"/>
                <a:tab pos="5145405" algn="l"/>
                <a:tab pos="6356350" algn="l"/>
                <a:tab pos="8004809" algn="l"/>
                <a:tab pos="9237345" algn="l"/>
                <a:tab pos="10620375" algn="l"/>
              </a:tabLst>
            </a:pP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Alat: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Laptop,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AutoDock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20">
                <a:solidFill>
                  <a:srgbClr val="333446"/>
                </a:solidFill>
                <a:latin typeface="Arial Black"/>
                <a:cs typeface="Arial Black"/>
              </a:rPr>
              <a:t>Vina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45">
                <a:solidFill>
                  <a:srgbClr val="333446"/>
                </a:solidFill>
                <a:latin typeface="Arial Black"/>
                <a:cs typeface="Arial Black"/>
              </a:rPr>
              <a:t>(pada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platform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PyRx),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PyMOL,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-90">
                <a:solidFill>
                  <a:srgbClr val="333446"/>
                </a:solidFill>
                <a:latin typeface="Arial Black"/>
                <a:cs typeface="Arial Black"/>
              </a:rPr>
              <a:t>Discovery </a:t>
            </a:r>
            <a:r>
              <a:rPr dirty="0" sz="2550" spc="-95">
                <a:solidFill>
                  <a:srgbClr val="333446"/>
                </a:solidFill>
                <a:latin typeface="Arial Black"/>
                <a:cs typeface="Arial Black"/>
              </a:rPr>
              <a:t>Studio</a:t>
            </a:r>
            <a:r>
              <a:rPr dirty="0" sz="2550" spc="-254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00">
                <a:solidFill>
                  <a:srgbClr val="333446"/>
                </a:solidFill>
                <a:latin typeface="Arial Black"/>
                <a:cs typeface="Arial Black"/>
              </a:rPr>
              <a:t>Visualizer,</a:t>
            </a:r>
            <a:r>
              <a:rPr dirty="0" sz="2550" spc="-25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dan</a:t>
            </a:r>
            <a:r>
              <a:rPr dirty="0" sz="2550" spc="-254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10">
                <a:solidFill>
                  <a:srgbClr val="333446"/>
                </a:solidFill>
                <a:latin typeface="Arial Black"/>
                <a:cs typeface="Arial Black"/>
              </a:rPr>
              <a:t>AutoDock</a:t>
            </a:r>
            <a:r>
              <a:rPr dirty="0" sz="2550" spc="-25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Tools.</a:t>
            </a:r>
            <a:endParaRPr sz="2550">
              <a:latin typeface="Arial Black"/>
              <a:cs typeface="Arial Black"/>
            </a:endParaRPr>
          </a:p>
          <a:p>
            <a:pPr marL="12700" marR="5080">
              <a:lnSpc>
                <a:spcPct val="115199"/>
              </a:lnSpc>
            </a:pPr>
            <a:r>
              <a:rPr dirty="0" sz="2550" spc="-35">
                <a:solidFill>
                  <a:srgbClr val="333446"/>
                </a:solidFill>
                <a:latin typeface="Arial Black"/>
                <a:cs typeface="Arial Black"/>
              </a:rPr>
              <a:t>Bahan:</a:t>
            </a:r>
            <a:r>
              <a:rPr dirty="0" sz="2550" spc="-18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70">
                <a:solidFill>
                  <a:srgbClr val="333446"/>
                </a:solidFill>
                <a:latin typeface="Arial Black"/>
                <a:cs typeface="Arial Black"/>
              </a:rPr>
              <a:t>Struktur</a:t>
            </a:r>
            <a:r>
              <a:rPr dirty="0" sz="2550" spc="-14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50">
                <a:solidFill>
                  <a:srgbClr val="333446"/>
                </a:solidFill>
                <a:latin typeface="Arial Black"/>
                <a:cs typeface="Arial Black"/>
              </a:rPr>
              <a:t>protein</a:t>
            </a:r>
            <a:r>
              <a:rPr dirty="0" sz="2550" spc="-16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415">
                <a:solidFill>
                  <a:srgbClr val="333446"/>
                </a:solidFill>
                <a:latin typeface="Arial Black"/>
                <a:cs typeface="Arial Black"/>
              </a:rPr>
              <a:t>M1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95">
                <a:solidFill>
                  <a:srgbClr val="333446"/>
                </a:solidFill>
                <a:latin typeface="Arial Black"/>
                <a:cs typeface="Arial Black"/>
              </a:rPr>
              <a:t>(PDB</a:t>
            </a:r>
            <a:r>
              <a:rPr dirty="0" sz="2550" spc="-1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50">
                <a:solidFill>
                  <a:srgbClr val="333446"/>
                </a:solidFill>
                <a:latin typeface="Arial Black"/>
                <a:cs typeface="Arial Black"/>
              </a:rPr>
              <a:t>ID:</a:t>
            </a:r>
            <a:r>
              <a:rPr dirty="0" sz="2550" spc="-6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80">
                <a:solidFill>
                  <a:srgbClr val="333446"/>
                </a:solidFill>
                <a:latin typeface="Arial Black"/>
                <a:cs typeface="Arial Black"/>
              </a:rPr>
              <a:t>5CQE),</a:t>
            </a:r>
            <a:r>
              <a:rPr dirty="0" sz="2550" spc="-13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65">
                <a:solidFill>
                  <a:srgbClr val="333446"/>
                </a:solidFill>
                <a:latin typeface="Arial Black"/>
                <a:cs typeface="Arial Black"/>
              </a:rPr>
              <a:t>Native</a:t>
            </a:r>
            <a:r>
              <a:rPr dirty="0" sz="2550" spc="-13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ligand</a:t>
            </a:r>
            <a:r>
              <a:rPr dirty="0" sz="2550" spc="-10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315">
                <a:solidFill>
                  <a:srgbClr val="333446"/>
                </a:solidFill>
                <a:latin typeface="Arial Black"/>
                <a:cs typeface="Arial Black"/>
              </a:rPr>
              <a:t>TRS</a:t>
            </a:r>
            <a:r>
              <a:rPr dirty="0" sz="2550" spc="-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,</a:t>
            </a:r>
            <a:r>
              <a:rPr dirty="0" sz="2550" spc="-10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ligan</a:t>
            </a:r>
            <a:r>
              <a:rPr dirty="0" sz="2550" spc="-10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280">
                <a:solidFill>
                  <a:srgbClr val="333446"/>
                </a:solidFill>
                <a:latin typeface="Arial Black"/>
                <a:cs typeface="Arial Black"/>
              </a:rPr>
              <a:t>PEG, 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dan</a:t>
            </a:r>
            <a:r>
              <a:rPr dirty="0" sz="2550" spc="-26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40">
                <a:solidFill>
                  <a:srgbClr val="333446"/>
                </a:solidFill>
                <a:latin typeface="Arial Black"/>
                <a:cs typeface="Arial Black"/>
              </a:rPr>
              <a:t>ligan</a:t>
            </a:r>
            <a:r>
              <a:rPr dirty="0" sz="2550" spc="-26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20">
                <a:solidFill>
                  <a:srgbClr val="333446"/>
                </a:solidFill>
                <a:latin typeface="Arial Black"/>
                <a:cs typeface="Arial Black"/>
              </a:rPr>
              <a:t>EDO.</a:t>
            </a:r>
            <a:endParaRPr sz="25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dirty="0" sz="2550" spc="-95">
                <a:solidFill>
                  <a:srgbClr val="333446"/>
                </a:solidFill>
                <a:latin typeface="Arial Black"/>
                <a:cs typeface="Arial Black"/>
              </a:rPr>
              <a:t>Prosedur</a:t>
            </a:r>
            <a:r>
              <a:rPr dirty="0" sz="2550" spc="-25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Kerja:</a:t>
            </a:r>
            <a:endParaRPr sz="2550">
              <a:latin typeface="Arial Black"/>
              <a:cs typeface="Arial Black"/>
            </a:endParaRPr>
          </a:p>
          <a:p>
            <a:pPr marL="562610" marR="5080">
              <a:lnSpc>
                <a:spcPct val="115199"/>
              </a:lnSpc>
            </a:pPr>
            <a:r>
              <a:rPr dirty="0" sz="2550" spc="-85">
                <a:solidFill>
                  <a:srgbClr val="333446"/>
                </a:solidFill>
                <a:latin typeface="Arial Black"/>
                <a:cs typeface="Arial Black"/>
              </a:rPr>
              <a:t>Preparasi</a:t>
            </a:r>
            <a:r>
              <a:rPr dirty="0" sz="2550" spc="-22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14">
                <a:solidFill>
                  <a:srgbClr val="333446"/>
                </a:solidFill>
                <a:latin typeface="Arial Black"/>
                <a:cs typeface="Arial Black"/>
              </a:rPr>
              <a:t>Protein:</a:t>
            </a:r>
            <a:r>
              <a:rPr dirty="0" sz="2550" spc="-2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85">
                <a:solidFill>
                  <a:srgbClr val="333446"/>
                </a:solidFill>
                <a:latin typeface="Lucida Sans Unicode"/>
                <a:cs typeface="Lucida Sans Unicode"/>
              </a:rPr>
              <a:t>Menghapus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molekul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air</a:t>
            </a:r>
            <a:r>
              <a:rPr dirty="0" sz="255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00">
                <a:solidFill>
                  <a:srgbClr val="333446"/>
                </a:solidFill>
                <a:latin typeface="Lucida Sans Unicode"/>
                <a:cs typeface="Lucida Sans Unicode"/>
              </a:rPr>
              <a:t>memisahkan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ligan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14">
                <a:solidFill>
                  <a:srgbClr val="333446"/>
                </a:solidFill>
                <a:latin typeface="Lucida Sans Unicode"/>
                <a:cs typeface="Lucida Sans Unicode"/>
              </a:rPr>
              <a:t>alami </a:t>
            </a:r>
            <a:r>
              <a:rPr dirty="0" sz="2550" spc="50">
                <a:solidFill>
                  <a:srgbClr val="333446"/>
                </a:solidFill>
                <a:latin typeface="Lucida Sans Unicode"/>
                <a:cs typeface="Lucida Sans Unicode"/>
              </a:rPr>
              <a:t>dari</a:t>
            </a:r>
            <a:r>
              <a:rPr dirty="0" sz="2550" spc="-114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70">
                <a:solidFill>
                  <a:srgbClr val="333446"/>
                </a:solidFill>
                <a:latin typeface="Lucida Sans Unicode"/>
                <a:cs typeface="Lucida Sans Unicode"/>
              </a:rPr>
              <a:t>target</a:t>
            </a:r>
            <a:r>
              <a:rPr dirty="0" sz="255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PDB</a:t>
            </a:r>
            <a:r>
              <a:rPr dirty="0" sz="255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5CQE.</a:t>
            </a:r>
            <a:endParaRPr sz="2550">
              <a:latin typeface="Lucida Sans Unicode"/>
              <a:cs typeface="Lucida Sans Unicode"/>
            </a:endParaRPr>
          </a:p>
          <a:p>
            <a:pPr marL="562610" marR="5080">
              <a:lnSpc>
                <a:spcPct val="115199"/>
              </a:lnSpc>
            </a:pPr>
            <a:r>
              <a:rPr dirty="0" sz="2550" spc="-45">
                <a:solidFill>
                  <a:srgbClr val="333446"/>
                </a:solidFill>
                <a:latin typeface="Arial Black"/>
                <a:cs typeface="Arial Black"/>
              </a:rPr>
              <a:t>Preparasi</a:t>
            </a:r>
            <a:r>
              <a:rPr dirty="0" sz="2550" spc="12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50">
                <a:solidFill>
                  <a:srgbClr val="333446"/>
                </a:solidFill>
                <a:latin typeface="Arial Black"/>
                <a:cs typeface="Arial Black"/>
              </a:rPr>
              <a:t>Ligan:</a:t>
            </a:r>
            <a:r>
              <a:rPr dirty="0" sz="2550" spc="26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70">
                <a:solidFill>
                  <a:srgbClr val="333446"/>
                </a:solidFill>
                <a:latin typeface="Lucida Sans Unicode"/>
                <a:cs typeface="Lucida Sans Unicode"/>
              </a:rPr>
              <a:t>Menyiapkan</a:t>
            </a:r>
            <a:r>
              <a:rPr dirty="0" sz="2550" spc="2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60">
                <a:solidFill>
                  <a:srgbClr val="333446"/>
                </a:solidFill>
                <a:latin typeface="Lucida Sans Unicode"/>
                <a:cs typeface="Lucida Sans Unicode"/>
              </a:rPr>
              <a:t>format</a:t>
            </a:r>
            <a:r>
              <a:rPr dirty="0" sz="2550" spc="3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ligan</a:t>
            </a:r>
            <a:r>
              <a:rPr dirty="0" sz="2550" spc="2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550" spc="3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2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550" spc="3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untuk</a:t>
            </a:r>
            <a:r>
              <a:rPr dirty="0" sz="2550" spc="2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proses docking.</a:t>
            </a:r>
            <a:endParaRPr sz="2550">
              <a:latin typeface="Lucida Sans Unicode"/>
              <a:cs typeface="Lucida Sans Unicode"/>
            </a:endParaRPr>
          </a:p>
          <a:p>
            <a:pPr marL="562610" marR="5080">
              <a:lnSpc>
                <a:spcPct val="115199"/>
              </a:lnSpc>
            </a:pPr>
            <a:r>
              <a:rPr dirty="0" sz="2550" spc="-85">
                <a:solidFill>
                  <a:srgbClr val="333446"/>
                </a:solidFill>
                <a:latin typeface="Arial Black"/>
                <a:cs typeface="Arial Black"/>
              </a:rPr>
              <a:t>Molecular</a:t>
            </a:r>
            <a:r>
              <a:rPr dirty="0" sz="2550" spc="-19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 spc="-100">
                <a:solidFill>
                  <a:srgbClr val="333446"/>
                </a:solidFill>
                <a:latin typeface="Arial Black"/>
                <a:cs typeface="Arial Black"/>
              </a:rPr>
              <a:t>Docking:</a:t>
            </a:r>
            <a:r>
              <a:rPr dirty="0" sz="2550" spc="-19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Dilakukan</a:t>
            </a:r>
            <a:r>
              <a:rPr dirty="0" sz="2550" spc="-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65">
                <a:solidFill>
                  <a:srgbClr val="333446"/>
                </a:solidFill>
                <a:latin typeface="Lucida Sans Unicode"/>
                <a:cs typeface="Lucida Sans Unicode"/>
              </a:rPr>
              <a:t>area</a:t>
            </a:r>
            <a:r>
              <a:rPr dirty="0" sz="2550" spc="-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binding </a:t>
            </a:r>
            <a:r>
              <a:rPr dirty="0" sz="2550" spc="55">
                <a:solidFill>
                  <a:srgbClr val="333446"/>
                </a:solidFill>
                <a:latin typeface="Lucida Sans Unicode"/>
                <a:cs typeface="Lucida Sans Unicode"/>
              </a:rPr>
              <a:t>pocket</a:t>
            </a:r>
            <a:r>
              <a:rPr dirty="0" sz="2550" spc="-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95">
                <a:solidFill>
                  <a:srgbClr val="333446"/>
                </a:solidFill>
                <a:latin typeface="Lucida Sans Unicode"/>
                <a:cs typeface="Lucida Sans Unicode"/>
              </a:rPr>
              <a:t>menggunakan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AutoDock</a:t>
            </a:r>
            <a:r>
              <a:rPr dirty="0" sz="255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0">
                <a:solidFill>
                  <a:srgbClr val="333446"/>
                </a:solidFill>
                <a:latin typeface="Lucida Sans Unicode"/>
                <a:cs typeface="Lucida Sans Unicode"/>
              </a:rPr>
              <a:t>Vina.</a:t>
            </a:r>
            <a:endParaRPr sz="2550">
              <a:latin typeface="Lucida Sans Unicode"/>
              <a:cs typeface="Lucida Sans Unicode"/>
            </a:endParaRPr>
          </a:p>
          <a:p>
            <a:pPr marL="562610" marR="5080">
              <a:lnSpc>
                <a:spcPct val="115199"/>
              </a:lnSpc>
              <a:tabLst>
                <a:tab pos="2952750" algn="l"/>
                <a:tab pos="5325110" algn="l"/>
                <a:tab pos="6818630" algn="l"/>
                <a:tab pos="8256270" algn="l"/>
                <a:tab pos="9800590" algn="l"/>
                <a:tab pos="11125200" algn="l"/>
              </a:tabLst>
            </a:pPr>
            <a:r>
              <a:rPr dirty="0" sz="2550" spc="-10">
                <a:solidFill>
                  <a:srgbClr val="333446"/>
                </a:solidFill>
                <a:latin typeface="Arial Black"/>
                <a:cs typeface="Arial Black"/>
              </a:rPr>
              <a:t>Visualisasi:</a:t>
            </a:r>
            <a:r>
              <a:rPr dirty="0" sz="255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550" spc="100">
                <a:solidFill>
                  <a:srgbClr val="333446"/>
                </a:solidFill>
                <a:latin typeface="Lucida Sans Unicode"/>
                <a:cs typeface="Lucida Sans Unicode"/>
              </a:rPr>
              <a:t>Mengamati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200">
                <a:solidFill>
                  <a:srgbClr val="333446"/>
                </a:solidFill>
                <a:latin typeface="Lucida Sans Unicode"/>
                <a:cs typeface="Lucida Sans Unicode"/>
              </a:rPr>
              <a:t>asam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85">
                <a:solidFill>
                  <a:srgbClr val="333446"/>
                </a:solidFill>
                <a:latin typeface="Lucida Sans Unicode"/>
                <a:cs typeface="Lucida Sans Unicode"/>
              </a:rPr>
              <a:t>amino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120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terlibat </a:t>
            </a:r>
            <a:r>
              <a:rPr dirty="0" sz="2550" spc="105">
                <a:solidFill>
                  <a:srgbClr val="333446"/>
                </a:solidFill>
                <a:latin typeface="Lucida Sans Unicode"/>
                <a:cs typeface="Lucida Sans Unicode"/>
              </a:rPr>
              <a:t>menggunakan</a:t>
            </a:r>
            <a:r>
              <a:rPr dirty="0" sz="2550" spc="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Discovery</a:t>
            </a:r>
            <a:r>
              <a:rPr dirty="0" sz="2550" spc="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>
                <a:solidFill>
                  <a:srgbClr val="333446"/>
                </a:solidFill>
                <a:latin typeface="Lucida Sans Unicode"/>
                <a:cs typeface="Lucida Sans Unicode"/>
              </a:rPr>
              <a:t>Studio</a:t>
            </a:r>
            <a:r>
              <a:rPr dirty="0" sz="2550" spc="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150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550" spc="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">
                <a:solidFill>
                  <a:srgbClr val="333446"/>
                </a:solidFill>
                <a:latin typeface="Lucida Sans Unicode"/>
                <a:cs typeface="Lucida Sans Unicode"/>
              </a:rPr>
              <a:t>PyMOL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6209" y="0"/>
            <a:ext cx="6889912" cy="33300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HASIL</a:t>
            </a:r>
            <a:r>
              <a:rPr dirty="0" spc="150"/>
              <a:t> </a:t>
            </a:r>
            <a:r>
              <a:rPr dirty="0" spc="-355"/>
              <a:t>DAN</a:t>
            </a:r>
            <a:r>
              <a:rPr dirty="0" spc="155"/>
              <a:t> </a:t>
            </a:r>
            <a:r>
              <a:rPr dirty="0" spc="-380"/>
              <a:t>PEMBAHASAN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5439" y="5932541"/>
            <a:ext cx="2292560" cy="435445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18"/>
            <a:ext cx="1682770" cy="330563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7143" y="6173556"/>
            <a:ext cx="95250" cy="95250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950061" y="0"/>
            <a:ext cx="16338550" cy="5151120"/>
            <a:chOff x="1950061" y="0"/>
            <a:chExt cx="16338550" cy="5151120"/>
          </a:xfrm>
        </p:grpSpPr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91969" y="0"/>
              <a:ext cx="2896029" cy="310312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0061" y="2141207"/>
              <a:ext cx="5953140" cy="30098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86456" y="2141207"/>
              <a:ext cx="5981699" cy="3009899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708224" y="6398981"/>
            <a:ext cx="68910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hidrogen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7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10">
                <a:solidFill>
                  <a:srgbClr val="333446"/>
                </a:solidFill>
                <a:latin typeface="Lucida Sans Unicode"/>
                <a:cs typeface="Lucida Sans Unicode"/>
              </a:rPr>
              <a:t>A:82,</a:t>
            </a:r>
            <a:r>
              <a:rPr dirty="0" sz="2100" spc="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5">
                <a:solidFill>
                  <a:srgbClr val="333446"/>
                </a:solidFill>
                <a:latin typeface="Lucida Sans Unicode"/>
                <a:cs typeface="Lucida Sans Unicode"/>
              </a:rPr>
              <a:t>A:83,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A:87,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7143" y="7287981"/>
            <a:ext cx="95250" cy="9525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708224" y="6719020"/>
            <a:ext cx="6891020" cy="262572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505"/>
              </a:spcBef>
            </a:pPr>
            <a:r>
              <a:rPr dirty="0" sz="2100" spc="12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5">
                <a:solidFill>
                  <a:srgbClr val="333446"/>
                </a:solidFill>
                <a:latin typeface="Lucida Sans Unicode"/>
                <a:cs typeface="Lucida Sans Unicode"/>
              </a:rPr>
              <a:t>MET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45">
                <a:solidFill>
                  <a:srgbClr val="333446"/>
                </a:solidFill>
                <a:latin typeface="Lucida Sans Unicode"/>
                <a:cs typeface="Lucida Sans Unicode"/>
              </a:rPr>
              <a:t>A:135.</a:t>
            </a:r>
            <a:endParaRPr sz="21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6100"/>
              </a:lnSpc>
            </a:pPr>
            <a:r>
              <a:rPr dirty="0" sz="2100" spc="-55">
                <a:solidFill>
                  <a:srgbClr val="333446"/>
                </a:solidFill>
                <a:latin typeface="Arial Black"/>
                <a:cs typeface="Arial Black"/>
              </a:rPr>
              <a:t>Analisis</a:t>
            </a:r>
            <a:r>
              <a:rPr dirty="0" sz="2100" spc="-11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100" spc="-30">
                <a:solidFill>
                  <a:srgbClr val="333446"/>
                </a:solidFill>
                <a:latin typeface="Arial Black"/>
                <a:cs typeface="Arial Black"/>
              </a:rPr>
              <a:t>Dominasi</a:t>
            </a:r>
            <a:r>
              <a:rPr dirty="0" sz="2100" spc="-11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100" spc="-20">
                <a:solidFill>
                  <a:srgbClr val="333446"/>
                </a:solidFill>
                <a:latin typeface="Arial Black"/>
                <a:cs typeface="Arial Black"/>
              </a:rPr>
              <a:t>ikatan</a:t>
            </a:r>
            <a:r>
              <a:rPr dirty="0" sz="2100" spc="-10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100">
                <a:solidFill>
                  <a:srgbClr val="333446"/>
                </a:solidFill>
                <a:latin typeface="Arial Black"/>
                <a:cs typeface="Arial Black"/>
              </a:rPr>
              <a:t>hidrogen</a:t>
            </a:r>
            <a:r>
              <a:rPr dirty="0" sz="2100" spc="-1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100" spc="17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100" spc="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interaksi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PEG-</a:t>
            </a:r>
            <a:r>
              <a:rPr dirty="0" sz="2100" spc="-315">
                <a:solidFill>
                  <a:srgbClr val="333446"/>
                </a:solidFill>
                <a:latin typeface="Lucida Sans Unicode"/>
                <a:cs typeface="Lucida Sans Unicode"/>
              </a:rPr>
              <a:t>M1,</a:t>
            </a:r>
            <a:r>
              <a:rPr dirty="0" sz="2100" spc="1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menunjukkan</a:t>
            </a:r>
            <a:r>
              <a:rPr dirty="0" sz="2100" spc="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145">
                <a:solidFill>
                  <a:srgbClr val="333446"/>
                </a:solidFill>
                <a:latin typeface="Lucida Sans Unicode"/>
                <a:cs typeface="Lucida Sans Unicode"/>
              </a:rPr>
              <a:t>bahwa</a:t>
            </a:r>
            <a:r>
              <a:rPr dirty="0" sz="2100" spc="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70">
                <a:solidFill>
                  <a:srgbClr val="333446"/>
                </a:solidFill>
                <a:latin typeface="Lucida Sans Unicode"/>
                <a:cs typeface="Lucida Sans Unicode"/>
              </a:rPr>
              <a:t>kedua</a:t>
            </a:r>
            <a:r>
              <a:rPr dirty="0" sz="2100" spc="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ligan</a:t>
            </a:r>
            <a:r>
              <a:rPr dirty="0" sz="2100" spc="1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110">
                <a:solidFill>
                  <a:srgbClr val="333446"/>
                </a:solidFill>
                <a:latin typeface="Lucida Sans Unicode"/>
                <a:cs typeface="Lucida Sans Unicode"/>
              </a:rPr>
              <a:t>dapat </a:t>
            </a:r>
            <a:r>
              <a:rPr dirty="0" sz="2100" spc="95">
                <a:solidFill>
                  <a:srgbClr val="333446"/>
                </a:solidFill>
                <a:latin typeface="Lucida Sans Unicode"/>
                <a:cs typeface="Lucida Sans Unicode"/>
              </a:rPr>
              <a:t>menempati</a:t>
            </a:r>
            <a:r>
              <a:rPr dirty="0" sz="2100" spc="2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binding</a:t>
            </a:r>
            <a:r>
              <a:rPr dirty="0" sz="2100" spc="2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pocket</a:t>
            </a:r>
            <a:r>
              <a:rPr dirty="0" sz="2100" spc="2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100" spc="2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-345">
                <a:solidFill>
                  <a:srgbClr val="333446"/>
                </a:solidFill>
                <a:latin typeface="Lucida Sans Unicode"/>
                <a:cs typeface="Lucida Sans Unicode"/>
              </a:rPr>
              <a:t>M1</a:t>
            </a:r>
            <a:r>
              <a:rPr dirty="0" sz="2100" spc="22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95">
                <a:solidFill>
                  <a:srgbClr val="333446"/>
                </a:solidFill>
                <a:latin typeface="Lucida Sans Unicode"/>
                <a:cs typeface="Lucida Sans Unicode"/>
              </a:rPr>
              <a:t>dengan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stabil.</a:t>
            </a:r>
            <a:r>
              <a:rPr dirty="0" sz="2100" spc="-2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80">
                <a:solidFill>
                  <a:srgbClr val="333446"/>
                </a:solidFill>
                <a:latin typeface="Lucida Sans Unicode"/>
                <a:cs typeface="Lucida Sans Unicode"/>
              </a:rPr>
              <a:t>Sehingga</a:t>
            </a:r>
            <a:r>
              <a:rPr dirty="0" sz="2100" spc="-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100" spc="-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berpotensi</a:t>
            </a:r>
            <a:r>
              <a:rPr dirty="0" sz="2100" spc="-2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memiliki</a:t>
            </a:r>
            <a:r>
              <a:rPr dirty="0" sz="2100" spc="-2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afinitas </a:t>
            </a:r>
            <a:r>
              <a:rPr dirty="0" sz="2100" spc="90">
                <a:solidFill>
                  <a:srgbClr val="333446"/>
                </a:solidFill>
                <a:latin typeface="Lucida Sans Unicode"/>
                <a:cs typeface="Lucida Sans Unicode"/>
              </a:rPr>
              <a:t>terhadap</a:t>
            </a:r>
            <a:r>
              <a:rPr dirty="0" sz="2100" spc="50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situs</a:t>
            </a:r>
            <a:r>
              <a:rPr dirty="0" sz="2100" spc="50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aktif</a:t>
            </a:r>
            <a:r>
              <a:rPr dirty="0" sz="2100" spc="50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100" spc="50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-345">
                <a:solidFill>
                  <a:srgbClr val="333446"/>
                </a:solidFill>
                <a:latin typeface="Lucida Sans Unicode"/>
                <a:cs typeface="Lucida Sans Unicode"/>
              </a:rPr>
              <a:t>M1</a:t>
            </a:r>
            <a:r>
              <a:rPr dirty="0" sz="2100" spc="50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100" spc="50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-50">
                <a:solidFill>
                  <a:srgbClr val="333446"/>
                </a:solidFill>
                <a:latin typeface="Lucida Sans Unicode"/>
                <a:cs typeface="Lucida Sans Unicode"/>
              </a:rPr>
              <a:t>A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(Panuszko</a:t>
            </a:r>
            <a:r>
              <a:rPr dirty="0" sz="2100" spc="-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i="1">
                <a:solidFill>
                  <a:srgbClr val="333446"/>
                </a:solidFill>
                <a:latin typeface="Verdana"/>
                <a:cs typeface="Verdana"/>
              </a:rPr>
              <a:t>et </a:t>
            </a:r>
            <a:r>
              <a:rPr dirty="0" sz="2100" spc="-105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100" spc="-105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2016).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67617" y="5752561"/>
            <a:ext cx="193675" cy="23177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653770" y="5273168"/>
            <a:ext cx="6945630" cy="109982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2136140" marR="403860" indent="-2124075">
              <a:lnSpc>
                <a:spcPts val="2850"/>
              </a:lnSpc>
              <a:spcBef>
                <a:spcPts val="320"/>
              </a:spcBef>
              <a:tabLst>
                <a:tab pos="4114165" algn="l"/>
              </a:tabLst>
            </a:pPr>
            <a:r>
              <a:rPr dirty="0" sz="2500" spc="-204">
                <a:solidFill>
                  <a:srgbClr val="333446"/>
                </a:solidFill>
                <a:latin typeface="Arial"/>
                <a:cs typeface="Arial"/>
              </a:rPr>
              <a:t>HASIL</a:t>
            </a:r>
            <a:r>
              <a:rPr dirty="0" sz="2500" spc="-1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310">
                <a:solidFill>
                  <a:srgbClr val="333446"/>
                </a:solidFill>
                <a:latin typeface="Arial"/>
                <a:cs typeface="Arial"/>
              </a:rPr>
              <a:t>DOCKING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00">
                <a:solidFill>
                  <a:srgbClr val="333446"/>
                </a:solidFill>
                <a:latin typeface="Arial"/>
                <a:cs typeface="Arial"/>
              </a:rPr>
              <a:t>LIGAN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90">
                <a:solidFill>
                  <a:srgbClr val="333446"/>
                </a:solidFill>
                <a:latin typeface="Arial"/>
                <a:cs typeface="Arial"/>
              </a:rPr>
              <a:t>PEG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75">
                <a:solidFill>
                  <a:srgbClr val="333446"/>
                </a:solidFill>
                <a:latin typeface="Arial"/>
                <a:cs typeface="Arial"/>
              </a:rPr>
              <a:t>TERHADAP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180">
                <a:solidFill>
                  <a:srgbClr val="333446"/>
                </a:solidFill>
                <a:latin typeface="Arial"/>
                <a:cs typeface="Arial"/>
              </a:rPr>
              <a:t>PROTEIN </a:t>
            </a:r>
            <a:r>
              <a:rPr dirty="0" sz="2500" spc="-105">
                <a:solidFill>
                  <a:srgbClr val="333446"/>
                </a:solidFill>
                <a:latin typeface="Arial"/>
                <a:cs typeface="Arial"/>
              </a:rPr>
              <a:t>M1</a:t>
            </a:r>
            <a:r>
              <a:rPr dirty="0" sz="2500" spc="-7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45">
                <a:solidFill>
                  <a:srgbClr val="333446"/>
                </a:solidFill>
                <a:latin typeface="Arial"/>
                <a:cs typeface="Arial"/>
              </a:rPr>
              <a:t>(PDB:</a:t>
            </a:r>
            <a:r>
              <a:rPr dirty="0" sz="2500" spc="-10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333446"/>
                </a:solidFill>
                <a:latin typeface="Arial"/>
                <a:cs typeface="Arial"/>
              </a:rPr>
              <a:t>5C</a:t>
            </a:r>
            <a:r>
              <a:rPr dirty="0" sz="2500">
                <a:solidFill>
                  <a:srgbClr val="333446"/>
                </a:solidFill>
                <a:latin typeface="Arial"/>
                <a:cs typeface="Arial"/>
              </a:rPr>
              <a:t>	</a:t>
            </a:r>
            <a:r>
              <a:rPr dirty="0" sz="2500" spc="-25">
                <a:solidFill>
                  <a:srgbClr val="333446"/>
                </a:solidFill>
                <a:latin typeface="Arial"/>
                <a:cs typeface="Arial"/>
              </a:rPr>
              <a:t>E)</a:t>
            </a:r>
            <a:endParaRPr sz="2500">
              <a:latin typeface="Arial"/>
              <a:cs typeface="Arial"/>
            </a:endParaRPr>
          </a:p>
          <a:p>
            <a:pPr marL="66675">
              <a:lnSpc>
                <a:spcPct val="100000"/>
              </a:lnSpc>
              <a:spcBef>
                <a:spcPts val="20"/>
              </a:spcBef>
              <a:tabLst>
                <a:tab pos="1092835" algn="l"/>
                <a:tab pos="1957070" algn="l"/>
                <a:tab pos="3798570" algn="l"/>
                <a:tab pos="4819650" algn="l"/>
                <a:tab pos="6100445" algn="l"/>
              </a:tabLst>
            </a:pPr>
            <a:r>
              <a:rPr dirty="0" sz="2100" spc="-10">
                <a:solidFill>
                  <a:srgbClr val="333446"/>
                </a:solidFill>
                <a:latin typeface="Arial Black"/>
                <a:cs typeface="Arial Black"/>
              </a:rPr>
              <a:t>Ligan</a:t>
            </a:r>
            <a:r>
              <a:rPr dirty="0" sz="2100">
                <a:solidFill>
                  <a:srgbClr val="333446"/>
                </a:solidFill>
                <a:latin typeface="Arial Black"/>
                <a:cs typeface="Arial Black"/>
              </a:rPr>
              <a:t>	</a:t>
            </a:r>
            <a:r>
              <a:rPr dirty="0" sz="2100" spc="-20">
                <a:solidFill>
                  <a:srgbClr val="333446"/>
                </a:solidFill>
                <a:latin typeface="Arial Black"/>
                <a:cs typeface="Arial Black"/>
              </a:rPr>
              <a:t>PEG</a:t>
            </a:r>
            <a:r>
              <a:rPr dirty="0" sz="2100" spc="-20">
                <a:solidFill>
                  <a:srgbClr val="333446"/>
                </a:solidFill>
                <a:latin typeface="Lucida Sans Unicode"/>
                <a:cs typeface="Lucida Sans Unicode"/>
              </a:rPr>
              <a:t>: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Berinteraksi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stabil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melalui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	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ikatan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158879" y="5273168"/>
            <a:ext cx="52412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04">
                <a:solidFill>
                  <a:srgbClr val="333446"/>
                </a:solidFill>
                <a:latin typeface="Arial"/>
                <a:cs typeface="Arial"/>
              </a:rPr>
              <a:t>HASIL</a:t>
            </a:r>
            <a:r>
              <a:rPr dirty="0" sz="2500" spc="-1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310">
                <a:solidFill>
                  <a:srgbClr val="333446"/>
                </a:solidFill>
                <a:latin typeface="Arial"/>
                <a:cs typeface="Arial"/>
              </a:rPr>
              <a:t>DOCKING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00">
                <a:solidFill>
                  <a:srgbClr val="333446"/>
                </a:solidFill>
                <a:latin typeface="Arial"/>
                <a:cs typeface="Arial"/>
              </a:rPr>
              <a:t>LIGAN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90">
                <a:solidFill>
                  <a:srgbClr val="333446"/>
                </a:solidFill>
                <a:latin typeface="Arial"/>
                <a:cs typeface="Arial"/>
              </a:rPr>
              <a:t>PEG</a:t>
            </a:r>
            <a:r>
              <a:rPr dirty="0" sz="2500" spc="-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85">
                <a:solidFill>
                  <a:srgbClr val="333446"/>
                </a:solidFill>
                <a:latin typeface="Arial"/>
                <a:cs typeface="Arial"/>
              </a:rPr>
              <a:t>TERHADAP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72685" y="5752561"/>
            <a:ext cx="193675" cy="231775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0977881" y="5635118"/>
            <a:ext cx="36036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5015" algn="l"/>
              </a:tabLst>
            </a:pPr>
            <a:r>
              <a:rPr dirty="0" sz="2500" spc="-229">
                <a:solidFill>
                  <a:srgbClr val="333446"/>
                </a:solidFill>
                <a:latin typeface="Arial"/>
                <a:cs typeface="Arial"/>
              </a:rPr>
              <a:t>PROTEIN</a:t>
            </a:r>
            <a:r>
              <a:rPr dirty="0" sz="2500" spc="-35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105">
                <a:solidFill>
                  <a:srgbClr val="333446"/>
                </a:solidFill>
                <a:latin typeface="Arial"/>
                <a:cs typeface="Arial"/>
              </a:rPr>
              <a:t>M1</a:t>
            </a:r>
            <a:r>
              <a:rPr dirty="0" sz="2500" spc="-7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45">
                <a:solidFill>
                  <a:srgbClr val="333446"/>
                </a:solidFill>
                <a:latin typeface="Arial"/>
                <a:cs typeface="Arial"/>
              </a:rPr>
              <a:t>(PDB:</a:t>
            </a:r>
            <a:r>
              <a:rPr dirty="0" sz="2500" spc="-50">
                <a:solidFill>
                  <a:srgbClr val="333446"/>
                </a:solidFill>
                <a:latin typeface="Arial"/>
                <a:cs typeface="Arial"/>
              </a:rPr>
              <a:t> </a:t>
            </a:r>
            <a:r>
              <a:rPr dirty="0" sz="2500" spc="-25">
                <a:solidFill>
                  <a:srgbClr val="333446"/>
                </a:solidFill>
                <a:latin typeface="Arial"/>
                <a:cs typeface="Arial"/>
              </a:rPr>
              <a:t>5C</a:t>
            </a:r>
            <a:r>
              <a:rPr dirty="0" sz="2500">
                <a:solidFill>
                  <a:srgbClr val="333446"/>
                </a:solidFill>
                <a:latin typeface="Arial"/>
                <a:cs typeface="Arial"/>
              </a:rPr>
              <a:t>	</a:t>
            </a:r>
            <a:r>
              <a:rPr dirty="0" sz="2500" spc="-60">
                <a:solidFill>
                  <a:srgbClr val="333446"/>
                </a:solidFill>
                <a:latin typeface="Arial"/>
                <a:cs typeface="Arial"/>
              </a:rPr>
              <a:t>E)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4947" y="6173556"/>
            <a:ext cx="95250" cy="9525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4947" y="7287981"/>
            <a:ext cx="95250" cy="9525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4947" y="8773881"/>
            <a:ext cx="95250" cy="95250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9246028" y="5976071"/>
            <a:ext cx="7520940" cy="374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6520">
              <a:lnSpc>
                <a:spcPct val="116100"/>
              </a:lnSpc>
              <a:spcBef>
                <a:spcPts val="100"/>
              </a:spcBef>
            </a:pPr>
            <a:r>
              <a:rPr dirty="0" sz="2100" spc="-95">
                <a:solidFill>
                  <a:srgbClr val="333446"/>
                </a:solidFill>
                <a:latin typeface="Arial Black"/>
                <a:cs typeface="Arial Black"/>
              </a:rPr>
              <a:t>Ligan</a:t>
            </a:r>
            <a:r>
              <a:rPr dirty="0" sz="2100" spc="-23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100" spc="-210">
                <a:solidFill>
                  <a:srgbClr val="333446"/>
                </a:solidFill>
                <a:latin typeface="Arial Black"/>
                <a:cs typeface="Arial Black"/>
              </a:rPr>
              <a:t>EDO</a:t>
            </a:r>
            <a:r>
              <a:rPr dirty="0" sz="2100" spc="-210">
                <a:solidFill>
                  <a:srgbClr val="333446"/>
                </a:solidFill>
                <a:latin typeface="Lucida Sans Unicode"/>
                <a:cs typeface="Lucida Sans Unicode"/>
              </a:rPr>
              <a:t>:</a:t>
            </a:r>
            <a:r>
              <a:rPr dirty="0" sz="21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Menunjukkan</a:t>
            </a:r>
            <a:r>
              <a:rPr dirty="0" sz="21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1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7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1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1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1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90">
                <a:solidFill>
                  <a:srgbClr val="333446"/>
                </a:solidFill>
                <a:latin typeface="Lucida Sans Unicode"/>
                <a:cs typeface="Lucida Sans Unicode"/>
              </a:rPr>
              <a:t>A:82, </a:t>
            </a:r>
            <a:r>
              <a:rPr dirty="0" sz="2100" spc="-70">
                <a:solidFill>
                  <a:srgbClr val="333446"/>
                </a:solidFill>
                <a:latin typeface="Lucida Sans Unicode"/>
                <a:cs typeface="Lucida Sans Unicode"/>
              </a:rPr>
              <a:t>GLY</a:t>
            </a:r>
            <a:r>
              <a:rPr dirty="0" sz="21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10">
                <a:solidFill>
                  <a:srgbClr val="333446"/>
                </a:solidFill>
                <a:latin typeface="Lucida Sans Unicode"/>
                <a:cs typeface="Lucida Sans Unicode"/>
              </a:rPr>
              <a:t>A:86,</a:t>
            </a:r>
            <a:r>
              <a:rPr dirty="0" sz="21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2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1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1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20">
                <a:solidFill>
                  <a:srgbClr val="333446"/>
                </a:solidFill>
                <a:latin typeface="Lucida Sans Unicode"/>
                <a:cs typeface="Lucida Sans Unicode"/>
              </a:rPr>
              <a:t>A:87</a:t>
            </a:r>
            <a:r>
              <a:rPr dirty="0" sz="21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melalui</a:t>
            </a:r>
            <a:r>
              <a:rPr dirty="0" sz="21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0">
                <a:solidFill>
                  <a:srgbClr val="333446"/>
                </a:solidFill>
                <a:latin typeface="Lucida Sans Unicode"/>
                <a:cs typeface="Lucida Sans Unicode"/>
              </a:rPr>
              <a:t>conventional</a:t>
            </a:r>
            <a:r>
              <a:rPr dirty="0" sz="21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0">
                <a:solidFill>
                  <a:srgbClr val="333446"/>
                </a:solidFill>
                <a:latin typeface="Lucida Sans Unicode"/>
                <a:cs typeface="Lucida Sans Unicode"/>
              </a:rPr>
              <a:t>hydrogen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bond.</a:t>
            </a:r>
            <a:endParaRPr sz="21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6100"/>
              </a:lnSpc>
            </a:pPr>
            <a:r>
              <a:rPr dirty="0" sz="2100">
                <a:solidFill>
                  <a:srgbClr val="333446"/>
                </a:solidFill>
                <a:latin typeface="Arial Black"/>
                <a:cs typeface="Arial Black"/>
              </a:rPr>
              <a:t>Analisis</a:t>
            </a:r>
            <a:r>
              <a:rPr dirty="0" sz="2100" spc="30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100" spc="145">
                <a:solidFill>
                  <a:srgbClr val="333446"/>
                </a:solidFill>
                <a:latin typeface="Lucida Sans Unicode"/>
                <a:cs typeface="Lucida Sans Unicode"/>
              </a:rPr>
              <a:t>Jumlah</a:t>
            </a:r>
            <a:r>
              <a:rPr dirty="0" sz="2100" spc="4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100" spc="4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100" spc="4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100" spc="4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80">
                <a:solidFill>
                  <a:srgbClr val="333446"/>
                </a:solidFill>
                <a:latin typeface="Lucida Sans Unicode"/>
                <a:cs typeface="Lucida Sans Unicode"/>
              </a:rPr>
              <a:t>(3</a:t>
            </a:r>
            <a:r>
              <a:rPr dirty="0" sz="2100" spc="4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5">
                <a:solidFill>
                  <a:srgbClr val="333446"/>
                </a:solidFill>
                <a:latin typeface="Lucida Sans Unicode"/>
                <a:cs typeface="Lucida Sans Unicode"/>
              </a:rPr>
              <a:t>residu)</a:t>
            </a:r>
            <a:r>
              <a:rPr dirty="0" sz="2100" spc="4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lebih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sedikit</a:t>
            </a:r>
            <a:r>
              <a:rPr dirty="0" sz="2100" spc="26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dibandingkan</a:t>
            </a:r>
            <a:r>
              <a:rPr dirty="0" sz="2100" spc="26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100" spc="26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120">
                <a:solidFill>
                  <a:srgbClr val="333446"/>
                </a:solidFill>
                <a:latin typeface="Lucida Sans Unicode"/>
                <a:cs typeface="Lucida Sans Unicode"/>
              </a:rPr>
              <a:t>(4</a:t>
            </a:r>
            <a:r>
              <a:rPr dirty="0" sz="2100" spc="26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residu),</a:t>
            </a:r>
            <a:r>
              <a:rPr dirty="0" sz="2100" spc="26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kemungkinan </a:t>
            </a:r>
            <a:r>
              <a:rPr dirty="0" sz="2100" spc="70">
                <a:solidFill>
                  <a:srgbClr val="333446"/>
                </a:solidFill>
                <a:latin typeface="Lucida Sans Unicode"/>
                <a:cs typeface="Lucida Sans Unicode"/>
              </a:rPr>
              <a:t>disebabkan</a:t>
            </a:r>
            <a:r>
              <a:rPr dirty="0" sz="2100" spc="31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ukuran</a:t>
            </a:r>
            <a:r>
              <a:rPr dirty="0" sz="2100" spc="31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molekul</a:t>
            </a:r>
            <a:r>
              <a:rPr dirty="0" sz="2100" spc="31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100" spc="31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114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100" spc="31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lebih</a:t>
            </a:r>
            <a:r>
              <a:rPr dirty="0" sz="2100" spc="31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kecil </a:t>
            </a:r>
            <a:r>
              <a:rPr dirty="0" sz="2100" spc="70">
                <a:solidFill>
                  <a:srgbClr val="333446"/>
                </a:solidFill>
                <a:latin typeface="Lucida Sans Unicode"/>
                <a:cs typeface="Lucida Sans Unicode"/>
              </a:rPr>
              <a:t>sehingga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55">
                <a:solidFill>
                  <a:srgbClr val="333446"/>
                </a:solidFill>
                <a:latin typeface="Lucida Sans Unicode"/>
                <a:cs typeface="Lucida Sans Unicode"/>
              </a:rPr>
              <a:t>gugus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70">
                <a:solidFill>
                  <a:srgbClr val="333446"/>
                </a:solidFill>
                <a:latin typeface="Lucida Sans Unicode"/>
                <a:cs typeface="Lucida Sans Unicode"/>
              </a:rPr>
              <a:t>-</a:t>
            </a:r>
            <a:r>
              <a:rPr dirty="0" sz="2100" spc="-35">
                <a:solidFill>
                  <a:srgbClr val="333446"/>
                </a:solidFill>
                <a:latin typeface="Lucida Sans Unicode"/>
                <a:cs typeface="Lucida Sans Unicode"/>
              </a:rPr>
              <a:t>OH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4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45">
                <a:solidFill>
                  <a:srgbClr val="333446"/>
                </a:solidFill>
                <a:latin typeface="Lucida Sans Unicode"/>
                <a:cs typeface="Lucida Sans Unicode"/>
              </a:rPr>
              <a:t>tersedia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lebih</a:t>
            </a:r>
            <a:r>
              <a:rPr dirty="0" sz="21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terbatas.</a:t>
            </a:r>
            <a:endParaRPr sz="21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6100"/>
              </a:lnSpc>
            </a:pP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Ukuran</a:t>
            </a:r>
            <a:r>
              <a:rPr dirty="0" sz="2100" spc="33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kecil</a:t>
            </a:r>
            <a:r>
              <a:rPr dirty="0" sz="2100" spc="33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100" spc="330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130">
                <a:solidFill>
                  <a:srgbClr val="333446"/>
                </a:solidFill>
                <a:latin typeface="Lucida Sans Unicode"/>
                <a:cs typeface="Lucida Sans Unicode"/>
              </a:rPr>
              <a:t>dapat</a:t>
            </a:r>
            <a:r>
              <a:rPr dirty="0" sz="2100" spc="33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65">
                <a:solidFill>
                  <a:srgbClr val="333446"/>
                </a:solidFill>
                <a:latin typeface="Lucida Sans Unicode"/>
                <a:cs typeface="Lucida Sans Unicode"/>
              </a:rPr>
              <a:t>memberikan</a:t>
            </a:r>
            <a:r>
              <a:rPr dirty="0" sz="2100" spc="335">
                <a:solidFill>
                  <a:srgbClr val="333446"/>
                </a:solidFill>
                <a:latin typeface="Lucida Sans Unicode"/>
                <a:cs typeface="Lucida Sans Unicode"/>
              </a:rPr>
              <a:t>  </a:t>
            </a:r>
            <a:r>
              <a:rPr dirty="0" sz="2100" spc="40">
                <a:solidFill>
                  <a:srgbClr val="333446"/>
                </a:solidFill>
                <a:latin typeface="Lucida Sans Unicode"/>
                <a:cs typeface="Lucida Sans Unicode"/>
              </a:rPr>
              <a:t>keuntungan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aksesibilitas</a:t>
            </a:r>
            <a:r>
              <a:rPr dirty="0" sz="2100" spc="22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ke</a:t>
            </a:r>
            <a:r>
              <a:rPr dirty="0" sz="2100" spc="2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binding</a:t>
            </a:r>
            <a:r>
              <a:rPr dirty="0" sz="2100" spc="2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pocket</a:t>
            </a:r>
            <a:r>
              <a:rPr dirty="0" sz="2100" spc="2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4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100" spc="229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lebih</a:t>
            </a:r>
            <a:r>
              <a:rPr dirty="0" sz="2100" spc="2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40">
                <a:solidFill>
                  <a:srgbClr val="333446"/>
                </a:solidFill>
                <a:latin typeface="Lucida Sans Unicode"/>
                <a:cs typeface="Lucida Sans Unicode"/>
              </a:rPr>
              <a:t>dalam</a:t>
            </a:r>
            <a:r>
              <a:rPr dirty="0" sz="2100" spc="2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50">
                <a:solidFill>
                  <a:srgbClr val="333446"/>
                </a:solidFill>
                <a:latin typeface="Lucida Sans Unicode"/>
                <a:cs typeface="Lucida Sans Unicode"/>
              </a:rPr>
              <a:t>pada </a:t>
            </a:r>
            <a:r>
              <a:rPr dirty="0" sz="21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1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110">
                <a:solidFill>
                  <a:srgbClr val="333446"/>
                </a:solidFill>
                <a:latin typeface="Lucida Sans Unicode"/>
                <a:cs typeface="Lucida Sans Unicode"/>
              </a:rPr>
              <a:t>(Paggi</a:t>
            </a:r>
            <a:r>
              <a:rPr dirty="0" sz="21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i="1">
                <a:solidFill>
                  <a:srgbClr val="333446"/>
                </a:solidFill>
                <a:latin typeface="Verdana"/>
                <a:cs typeface="Verdana"/>
              </a:rPr>
              <a:t>et</a:t>
            </a:r>
            <a:r>
              <a:rPr dirty="0" sz="2100" spc="-85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100" spc="-105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100" spc="-105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1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100" spc="-10">
                <a:solidFill>
                  <a:srgbClr val="333446"/>
                </a:solidFill>
                <a:latin typeface="Lucida Sans Unicode"/>
                <a:cs typeface="Lucida Sans Unicode"/>
              </a:rPr>
              <a:t>2024).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138708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4291" y="0"/>
            <a:ext cx="7903707" cy="60601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021747"/>
            <a:ext cx="2260844" cy="226525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456638" y="2007830"/>
            <a:ext cx="1196276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-215">
                <a:solidFill>
                  <a:srgbClr val="333446"/>
                </a:solidFill>
                <a:latin typeface="Arial Narrow"/>
                <a:cs typeface="Arial Narrow"/>
              </a:rPr>
              <a:t>PERBANDINGAN</a:t>
            </a:r>
            <a:r>
              <a:rPr dirty="0" sz="3900" spc="-1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90">
                <a:solidFill>
                  <a:srgbClr val="333446"/>
                </a:solidFill>
                <a:latin typeface="Arial Narrow"/>
                <a:cs typeface="Arial Narrow"/>
              </a:rPr>
              <a:t>INTERAKSI</a:t>
            </a:r>
            <a:r>
              <a:rPr dirty="0" sz="39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330">
                <a:solidFill>
                  <a:srgbClr val="333446"/>
                </a:solidFill>
                <a:latin typeface="Arial Narrow"/>
                <a:cs typeface="Arial Narrow"/>
              </a:rPr>
              <a:t>PEG,</a:t>
            </a:r>
            <a:r>
              <a:rPr dirty="0" sz="3900" spc="11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254">
                <a:solidFill>
                  <a:srgbClr val="333446"/>
                </a:solidFill>
                <a:latin typeface="Arial Narrow"/>
                <a:cs typeface="Arial Narrow"/>
              </a:rPr>
              <a:t>EDO,</a:t>
            </a:r>
            <a:r>
              <a:rPr dirty="0" sz="39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85">
                <a:solidFill>
                  <a:srgbClr val="333446"/>
                </a:solidFill>
                <a:latin typeface="Arial Narrow"/>
                <a:cs typeface="Arial Narrow"/>
              </a:rPr>
              <a:t>DAN</a:t>
            </a:r>
            <a:r>
              <a:rPr dirty="0" sz="39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70">
                <a:solidFill>
                  <a:srgbClr val="333446"/>
                </a:solidFill>
                <a:latin typeface="Arial Narrow"/>
                <a:cs typeface="Arial Narrow"/>
              </a:rPr>
              <a:t>NATIVE</a:t>
            </a:r>
            <a:r>
              <a:rPr dirty="0" sz="3900" spc="50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120">
                <a:solidFill>
                  <a:srgbClr val="333446"/>
                </a:solidFill>
                <a:latin typeface="Arial Narrow"/>
                <a:cs typeface="Arial Narrow"/>
              </a:rPr>
              <a:t>LIGAND</a:t>
            </a:r>
            <a:r>
              <a:rPr dirty="0" sz="3900" spc="55">
                <a:solidFill>
                  <a:srgbClr val="333446"/>
                </a:solidFill>
                <a:latin typeface="Arial Narrow"/>
                <a:cs typeface="Arial Narrow"/>
              </a:rPr>
              <a:t> </a:t>
            </a:r>
            <a:r>
              <a:rPr dirty="0" sz="3900" spc="-25">
                <a:solidFill>
                  <a:srgbClr val="333446"/>
                </a:solidFill>
                <a:latin typeface="Arial Narrow"/>
                <a:cs typeface="Arial Narrow"/>
              </a:rPr>
              <a:t>TRS</a:t>
            </a:r>
            <a:endParaRPr sz="3900">
              <a:latin typeface="Arial Narrow"/>
              <a:cs typeface="Arial Narrow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75617" y="2911921"/>
            <a:ext cx="114300" cy="1143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75617" y="3826321"/>
            <a:ext cx="114300" cy="1143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75617" y="4283521"/>
            <a:ext cx="114300" cy="1143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75617" y="4740721"/>
            <a:ext cx="114300" cy="1143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347924" y="2669973"/>
            <a:ext cx="10846435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399"/>
              </a:lnSpc>
              <a:spcBef>
                <a:spcPts val="100"/>
              </a:spcBef>
            </a:pPr>
            <a:r>
              <a:rPr dirty="0" sz="2600" spc="-60">
                <a:solidFill>
                  <a:srgbClr val="333446"/>
                </a:solidFill>
                <a:latin typeface="Arial Black"/>
                <a:cs typeface="Arial Black"/>
              </a:rPr>
              <a:t>Overlapping</a:t>
            </a:r>
            <a:r>
              <a:rPr dirty="0" sz="2600" spc="-16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114">
                <a:solidFill>
                  <a:srgbClr val="333446"/>
                </a:solidFill>
                <a:latin typeface="Arial Black"/>
                <a:cs typeface="Arial Black"/>
              </a:rPr>
              <a:t>residu</a:t>
            </a:r>
            <a:r>
              <a:rPr dirty="0" sz="2600" spc="-10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130">
                <a:solidFill>
                  <a:srgbClr val="333446"/>
                </a:solidFill>
                <a:latin typeface="Arial Black"/>
                <a:cs typeface="Arial Black"/>
              </a:rPr>
              <a:t>kunci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:</a:t>
            </a:r>
            <a:r>
              <a:rPr dirty="0" sz="26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PEG,</a:t>
            </a:r>
            <a:r>
              <a:rPr dirty="0" sz="2600" spc="-1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60">
                <a:solidFill>
                  <a:srgbClr val="333446"/>
                </a:solidFill>
                <a:latin typeface="Lucida Sans Unicode"/>
                <a:cs typeface="Lucida Sans Unicode"/>
              </a:rPr>
              <a:t>EDO,</a:t>
            </a:r>
            <a:r>
              <a:rPr dirty="0" sz="26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2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75">
                <a:solidFill>
                  <a:srgbClr val="333446"/>
                </a:solidFill>
                <a:latin typeface="Lucida Sans Unicode"/>
                <a:cs typeface="Lucida Sans Unicode"/>
              </a:rPr>
              <a:t>native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ligand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TRS</a:t>
            </a:r>
            <a:r>
              <a:rPr dirty="0" sz="26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sama- </a:t>
            </a:r>
            <a:r>
              <a:rPr dirty="0" sz="2600" spc="220">
                <a:solidFill>
                  <a:srgbClr val="333446"/>
                </a:solidFill>
                <a:latin typeface="Lucida Sans Unicode"/>
                <a:cs typeface="Lucida Sans Unicode"/>
              </a:rPr>
              <a:t>sama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berinteraksi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333446"/>
                </a:solidFill>
                <a:latin typeface="Lucida Sans Unicode"/>
                <a:cs typeface="Lucida Sans Unicode"/>
              </a:rPr>
              <a:t>dengan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40">
                <a:solidFill>
                  <a:srgbClr val="333446"/>
                </a:solidFill>
                <a:latin typeface="Lucida Sans Unicode"/>
                <a:cs typeface="Lucida Sans Unicode"/>
              </a:rPr>
              <a:t>A:82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A:87.</a:t>
            </a:r>
            <a:endParaRPr sz="260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2600" spc="-45">
                <a:solidFill>
                  <a:srgbClr val="333446"/>
                </a:solidFill>
                <a:latin typeface="Arial Black"/>
                <a:cs typeface="Arial Black"/>
              </a:rPr>
              <a:t>Jumlah</a:t>
            </a:r>
            <a:r>
              <a:rPr dirty="0" sz="2600" spc="-30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114">
                <a:solidFill>
                  <a:srgbClr val="333446"/>
                </a:solidFill>
                <a:latin typeface="Arial Black"/>
                <a:cs typeface="Arial Black"/>
              </a:rPr>
              <a:t>interaksi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: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(4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residu)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685">
                <a:solidFill>
                  <a:srgbClr val="333446"/>
                </a:solidFill>
                <a:latin typeface="Lucida Sans Unicode"/>
                <a:cs typeface="Lucida Sans Unicode"/>
              </a:rPr>
              <a:t>&gt;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90">
                <a:solidFill>
                  <a:srgbClr val="333446"/>
                </a:solidFill>
                <a:latin typeface="Lucida Sans Unicode"/>
                <a:cs typeface="Lucida Sans Unicode"/>
              </a:rPr>
              <a:t>(3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residu).</a:t>
            </a:r>
            <a:endParaRPr sz="260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480"/>
              </a:spcBef>
            </a:pPr>
            <a:r>
              <a:rPr dirty="0" sz="2600" spc="-135">
                <a:solidFill>
                  <a:srgbClr val="333446"/>
                </a:solidFill>
                <a:latin typeface="Arial Black"/>
                <a:cs typeface="Arial Black"/>
              </a:rPr>
              <a:t>Jenis</a:t>
            </a:r>
            <a:r>
              <a:rPr dirty="0" sz="2600" spc="-30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114">
                <a:solidFill>
                  <a:srgbClr val="333446"/>
                </a:solidFill>
                <a:latin typeface="Arial Black"/>
                <a:cs typeface="Arial Black"/>
              </a:rPr>
              <a:t>interaksi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: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PEG,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40">
                <a:solidFill>
                  <a:srgbClr val="333446"/>
                </a:solidFill>
                <a:latin typeface="Lucida Sans Unicode"/>
                <a:cs typeface="Lucida Sans Unicode"/>
              </a:rPr>
              <a:t>EDO,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TRS.</a:t>
            </a:r>
            <a:endParaRPr sz="2600">
              <a:latin typeface="Lucida Sans Unicode"/>
              <a:cs typeface="Lucida Sans Unicode"/>
            </a:endParaRPr>
          </a:p>
          <a:p>
            <a:pPr algn="just" marL="12700" marR="132715">
              <a:lnSpc>
                <a:spcPct val="115399"/>
              </a:lnSpc>
            </a:pPr>
            <a:r>
              <a:rPr dirty="0" sz="2600" spc="-110">
                <a:solidFill>
                  <a:srgbClr val="333446"/>
                </a:solidFill>
                <a:latin typeface="Arial Black"/>
                <a:cs typeface="Arial Black"/>
              </a:rPr>
              <a:t>Implikasi </a:t>
            </a:r>
            <a:r>
              <a:rPr dirty="0" sz="2600" spc="-55">
                <a:solidFill>
                  <a:srgbClr val="333446"/>
                </a:solidFill>
                <a:latin typeface="Arial Black"/>
                <a:cs typeface="Arial Black"/>
              </a:rPr>
              <a:t>overlapping</a:t>
            </a:r>
            <a:r>
              <a:rPr dirty="0" sz="2600" spc="-16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110">
                <a:solidFill>
                  <a:srgbClr val="333446"/>
                </a:solidFill>
                <a:latin typeface="Arial Black"/>
                <a:cs typeface="Arial Black"/>
              </a:rPr>
              <a:t>residu</a:t>
            </a:r>
            <a:r>
              <a:rPr dirty="0" sz="2600" spc="-110">
                <a:solidFill>
                  <a:srgbClr val="333446"/>
                </a:solidFill>
                <a:latin typeface="Lucida Sans Unicode"/>
                <a:cs typeface="Lucida Sans Unicode"/>
              </a:rPr>
              <a:t>: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600" spc="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600" spc="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berpotensi</a:t>
            </a:r>
            <a:r>
              <a:rPr dirty="0" sz="2600" spc="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bertindak </a:t>
            </a:r>
            <a:r>
              <a:rPr dirty="0" sz="2600" spc="130">
                <a:solidFill>
                  <a:srgbClr val="333446"/>
                </a:solidFill>
                <a:latin typeface="Lucida Sans Unicode"/>
                <a:cs typeface="Lucida Sans Unicode"/>
              </a:rPr>
              <a:t>sebagai</a:t>
            </a:r>
            <a:r>
              <a:rPr dirty="0" sz="2600" spc="-1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inhibitor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kompetitif</a:t>
            </a:r>
            <a:r>
              <a:rPr dirty="0" sz="2600" spc="-1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10">
                <a:solidFill>
                  <a:srgbClr val="333446"/>
                </a:solidFill>
                <a:latin typeface="Lucida Sans Unicode"/>
                <a:cs typeface="Lucida Sans Unicode"/>
              </a:rPr>
              <a:t>terhadap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75">
                <a:solidFill>
                  <a:srgbClr val="333446"/>
                </a:solidFill>
                <a:latin typeface="Lucida Sans Unicode"/>
                <a:cs typeface="Lucida Sans Unicode"/>
              </a:rPr>
              <a:t>native</a:t>
            </a:r>
            <a:r>
              <a:rPr dirty="0" sz="2600" spc="-1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ligand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TRS</a:t>
            </a:r>
            <a:r>
              <a:rPr dirty="0" sz="2600" spc="-1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secara</a:t>
            </a:r>
            <a:r>
              <a:rPr dirty="0" sz="2600" spc="-1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in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silico.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HASIL</a:t>
            </a:r>
            <a:r>
              <a:rPr dirty="0" spc="150"/>
              <a:t> </a:t>
            </a:r>
            <a:r>
              <a:rPr dirty="0" spc="-355"/>
              <a:t>DAN</a:t>
            </a:r>
            <a:r>
              <a:rPr dirty="0" spc="155"/>
              <a:t> </a:t>
            </a:r>
            <a:r>
              <a:rPr dirty="0" spc="-380"/>
              <a:t>PEMBAHASAN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138708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4291" y="0"/>
            <a:ext cx="7903707" cy="606015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021747"/>
            <a:ext cx="2260844" cy="226525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4429" y="2316754"/>
            <a:ext cx="114300" cy="1143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4429" y="3688353"/>
            <a:ext cx="114300" cy="1143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4429" y="5517153"/>
            <a:ext cx="114300" cy="1143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4429" y="7345953"/>
            <a:ext cx="114300" cy="11430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106735" y="2074806"/>
            <a:ext cx="11386820" cy="688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84455">
              <a:lnSpc>
                <a:spcPct val="115399"/>
              </a:lnSpc>
              <a:spcBef>
                <a:spcPts val="100"/>
              </a:spcBef>
            </a:pPr>
            <a:r>
              <a:rPr dirty="0" sz="2600" spc="-120">
                <a:solidFill>
                  <a:srgbClr val="333446"/>
                </a:solidFill>
                <a:latin typeface="Arial Black"/>
                <a:cs typeface="Arial Black"/>
              </a:rPr>
              <a:t>Ligan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315">
                <a:solidFill>
                  <a:srgbClr val="333446"/>
                </a:solidFill>
                <a:latin typeface="Arial Black"/>
                <a:cs typeface="Arial Black"/>
              </a:rPr>
              <a:t>PEG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55">
                <a:solidFill>
                  <a:srgbClr val="333446"/>
                </a:solidFill>
                <a:latin typeface="Arial Black"/>
                <a:cs typeface="Arial Black"/>
              </a:rPr>
              <a:t>mampu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85">
                <a:solidFill>
                  <a:srgbClr val="333446"/>
                </a:solidFill>
                <a:latin typeface="Arial Black"/>
                <a:cs typeface="Arial Black"/>
              </a:rPr>
              <a:t>berinteraksi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Arial Black"/>
                <a:cs typeface="Arial Black"/>
              </a:rPr>
              <a:t>dengan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75">
                <a:solidFill>
                  <a:srgbClr val="333446"/>
                </a:solidFill>
                <a:latin typeface="Arial Black"/>
                <a:cs typeface="Arial Black"/>
              </a:rPr>
              <a:t>protein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425">
                <a:solidFill>
                  <a:srgbClr val="333446"/>
                </a:solidFill>
                <a:latin typeface="Arial Black"/>
                <a:cs typeface="Arial Black"/>
              </a:rPr>
              <a:t>M1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90">
                <a:solidFill>
                  <a:srgbClr val="333446"/>
                </a:solidFill>
                <a:latin typeface="Arial Black"/>
                <a:cs typeface="Arial Black"/>
              </a:rPr>
              <a:t>Influenza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125">
                <a:solidFill>
                  <a:srgbClr val="333446"/>
                </a:solidFill>
                <a:latin typeface="Arial Black"/>
                <a:cs typeface="Arial Black"/>
              </a:rPr>
              <a:t>A</a:t>
            </a:r>
            <a:r>
              <a:rPr dirty="0" sz="2600" spc="-32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10">
                <a:solidFill>
                  <a:srgbClr val="333446"/>
                </a:solidFill>
                <a:latin typeface="Lucida Sans Unicode"/>
                <a:cs typeface="Lucida Sans Unicode"/>
              </a:rPr>
              <a:t>(PDB:</a:t>
            </a:r>
            <a:r>
              <a:rPr dirty="0" sz="2600" spc="-2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333446"/>
                </a:solidFill>
                <a:latin typeface="Lucida Sans Unicode"/>
                <a:cs typeface="Lucida Sans Unicode"/>
              </a:rPr>
              <a:t>5CQE)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melalui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conventional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hydrogen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333446"/>
                </a:solidFill>
                <a:latin typeface="Lucida Sans Unicode"/>
                <a:cs typeface="Lucida Sans Unicode"/>
              </a:rPr>
              <a:t>bond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4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residu: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70">
                <a:solidFill>
                  <a:srgbClr val="333446"/>
                </a:solidFill>
                <a:latin typeface="Lucida Sans Unicode"/>
                <a:cs typeface="Lucida Sans Unicode"/>
              </a:rPr>
              <a:t>A:82,</a:t>
            </a:r>
            <a:r>
              <a:rPr dirty="0" sz="2600" spc="-3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65">
                <a:solidFill>
                  <a:srgbClr val="333446"/>
                </a:solidFill>
                <a:latin typeface="Lucida Sans Unicode"/>
                <a:cs typeface="Lucida Sans Unicode"/>
              </a:rPr>
              <a:t>A:83,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85">
                <a:solidFill>
                  <a:srgbClr val="333446"/>
                </a:solidFill>
                <a:latin typeface="Lucida Sans Unicode"/>
                <a:cs typeface="Lucida Sans Unicode"/>
              </a:rPr>
              <a:t>A:87,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14">
                <a:solidFill>
                  <a:srgbClr val="333446"/>
                </a:solidFill>
                <a:latin typeface="Lucida Sans Unicode"/>
                <a:cs typeface="Lucida Sans Unicode"/>
              </a:rPr>
              <a:t>MET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70">
                <a:solidFill>
                  <a:srgbClr val="333446"/>
                </a:solidFill>
                <a:latin typeface="Lucida Sans Unicode"/>
                <a:cs typeface="Lucida Sans Unicode"/>
              </a:rPr>
              <a:t>A:135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35">
                <a:solidFill>
                  <a:srgbClr val="333446"/>
                </a:solidFill>
                <a:latin typeface="Lucida Sans Unicode"/>
                <a:cs typeface="Lucida Sans Unicode"/>
              </a:rPr>
              <a:t>(Panuszko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5" i="1">
                <a:solidFill>
                  <a:srgbClr val="333446"/>
                </a:solidFill>
                <a:latin typeface="Verdana"/>
                <a:cs typeface="Verdana"/>
              </a:rPr>
              <a:t>et</a:t>
            </a:r>
            <a:r>
              <a:rPr dirty="0" sz="2600" spc="-140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600" spc="-125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600" spc="-125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70">
                <a:solidFill>
                  <a:srgbClr val="333446"/>
                </a:solidFill>
                <a:latin typeface="Lucida Sans Unicode"/>
                <a:cs typeface="Lucida Sans Unicode"/>
              </a:rPr>
              <a:t>2016).</a:t>
            </a:r>
            <a:endParaRPr sz="2600">
              <a:latin typeface="Lucida Sans Unicode"/>
              <a:cs typeface="Lucida Sans Unicode"/>
            </a:endParaRPr>
          </a:p>
          <a:p>
            <a:pPr marL="12700" marR="803275">
              <a:lnSpc>
                <a:spcPct val="115399"/>
              </a:lnSpc>
            </a:pPr>
            <a:r>
              <a:rPr dirty="0" sz="2600" spc="-125">
                <a:solidFill>
                  <a:srgbClr val="333446"/>
                </a:solidFill>
                <a:latin typeface="Arial Black"/>
                <a:cs typeface="Arial Black"/>
              </a:rPr>
              <a:t>Ligan</a:t>
            </a:r>
            <a:r>
              <a:rPr dirty="0" sz="2600" spc="-28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254">
                <a:solidFill>
                  <a:srgbClr val="333446"/>
                </a:solidFill>
                <a:latin typeface="Arial Black"/>
                <a:cs typeface="Arial Black"/>
              </a:rPr>
              <a:t>EDO</a:t>
            </a:r>
            <a:r>
              <a:rPr dirty="0" sz="2600" spc="-28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90">
                <a:solidFill>
                  <a:srgbClr val="333446"/>
                </a:solidFill>
                <a:latin typeface="Arial Black"/>
                <a:cs typeface="Arial Black"/>
              </a:rPr>
              <a:t>berinteraksi</a:t>
            </a:r>
            <a:r>
              <a:rPr dirty="0" sz="2600" spc="-28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Arial Black"/>
                <a:cs typeface="Arial Black"/>
              </a:rPr>
              <a:t>dengan</a:t>
            </a:r>
            <a:r>
              <a:rPr dirty="0" sz="2600" spc="-285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80">
                <a:solidFill>
                  <a:srgbClr val="333446"/>
                </a:solidFill>
                <a:latin typeface="Arial Black"/>
                <a:cs typeface="Arial Black"/>
              </a:rPr>
              <a:t>protein</a:t>
            </a:r>
            <a:r>
              <a:rPr dirty="0" sz="2600" spc="-28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-425">
                <a:solidFill>
                  <a:srgbClr val="333446"/>
                </a:solidFill>
                <a:latin typeface="Arial Black"/>
                <a:cs typeface="Arial Black"/>
              </a:rPr>
              <a:t>M1</a:t>
            </a:r>
            <a:r>
              <a:rPr dirty="0" sz="2600" spc="-130">
                <a:solidFill>
                  <a:srgbClr val="333446"/>
                </a:solidFill>
                <a:latin typeface="Arial Black"/>
                <a:cs typeface="Arial Black"/>
              </a:rPr>
              <a:t> 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melalui</a:t>
            </a:r>
            <a:r>
              <a:rPr dirty="0" sz="26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conventional </a:t>
            </a: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hydrogen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0">
                <a:solidFill>
                  <a:srgbClr val="333446"/>
                </a:solidFill>
                <a:latin typeface="Lucida Sans Unicode"/>
                <a:cs typeface="Lucida Sans Unicode"/>
              </a:rPr>
              <a:t>bond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40">
                <a:solidFill>
                  <a:srgbClr val="333446"/>
                </a:solidFill>
                <a:latin typeface="Lucida Sans Unicode"/>
                <a:cs typeface="Lucida Sans Unicode"/>
              </a:rPr>
              <a:t>3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residu: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75">
                <a:solidFill>
                  <a:srgbClr val="333446"/>
                </a:solidFill>
                <a:latin typeface="Lucida Sans Unicode"/>
                <a:cs typeface="Lucida Sans Unicode"/>
              </a:rPr>
              <a:t>A:82,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90">
                <a:solidFill>
                  <a:srgbClr val="333446"/>
                </a:solidFill>
                <a:latin typeface="Lucida Sans Unicode"/>
                <a:cs typeface="Lucida Sans Unicode"/>
              </a:rPr>
              <a:t>GLY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45">
                <a:solidFill>
                  <a:srgbClr val="333446"/>
                </a:solidFill>
                <a:latin typeface="Lucida Sans Unicode"/>
                <a:cs typeface="Lucida Sans Unicode"/>
              </a:rPr>
              <a:t>A:86,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A:87,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menunjukkan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kestabilan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75">
                <a:solidFill>
                  <a:srgbClr val="333446"/>
                </a:solidFill>
                <a:latin typeface="Lucida Sans Unicode"/>
                <a:cs typeface="Lucida Sans Unicode"/>
              </a:rPr>
              <a:t>memadai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binding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40">
                <a:solidFill>
                  <a:srgbClr val="333446"/>
                </a:solidFill>
                <a:latin typeface="Lucida Sans Unicode"/>
                <a:cs typeface="Lucida Sans Unicode"/>
              </a:rPr>
              <a:t>pocket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protein.</a:t>
            </a:r>
            <a:endParaRPr sz="2600">
              <a:latin typeface="Lucida Sans Unicode"/>
              <a:cs typeface="Lucida Sans Unicode"/>
            </a:endParaRPr>
          </a:p>
          <a:p>
            <a:pPr marL="12700" marR="506730">
              <a:lnSpc>
                <a:spcPct val="115399"/>
              </a:lnSpc>
            </a:pPr>
            <a:r>
              <a:rPr dirty="0" sz="2600" spc="75">
                <a:solidFill>
                  <a:srgbClr val="333446"/>
                </a:solidFill>
                <a:latin typeface="Lucida Sans Unicode"/>
                <a:cs typeface="Lucida Sans Unicode"/>
              </a:rPr>
              <a:t>Terdapat</a:t>
            </a:r>
            <a:r>
              <a:rPr dirty="0" sz="260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overlapping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residu</a:t>
            </a:r>
            <a:r>
              <a:rPr dirty="0" sz="260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kunci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>
                <a:solidFill>
                  <a:srgbClr val="333446"/>
                </a:solidFill>
                <a:latin typeface="Lucida Sans Unicode"/>
                <a:cs typeface="Lucida Sans Unicode"/>
              </a:rPr>
              <a:t>antara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PEG,</a:t>
            </a:r>
            <a:r>
              <a:rPr dirty="0" sz="260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40">
                <a:solidFill>
                  <a:srgbClr val="333446"/>
                </a:solidFill>
                <a:latin typeface="Lucida Sans Unicode"/>
                <a:cs typeface="Lucida Sans Unicode"/>
              </a:rPr>
              <a:t>EDO,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1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native </a:t>
            </a:r>
            <a:r>
              <a:rPr dirty="0" sz="2600" spc="55">
                <a:solidFill>
                  <a:srgbClr val="333446"/>
                </a:solidFill>
                <a:latin typeface="Lucida Sans Unicode"/>
                <a:cs typeface="Lucida Sans Unicode"/>
              </a:rPr>
              <a:t>ligand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TRS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5">
                <a:solidFill>
                  <a:srgbClr val="333446"/>
                </a:solidFill>
                <a:latin typeface="Lucida Sans Unicode"/>
                <a:cs typeface="Lucida Sans Unicode"/>
              </a:rPr>
              <a:t>(ASN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40">
                <a:solidFill>
                  <a:srgbClr val="333446"/>
                </a:solidFill>
                <a:latin typeface="Lucida Sans Unicode"/>
                <a:cs typeface="Lucida Sans Unicode"/>
              </a:rPr>
              <a:t>A:82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ASN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5">
                <a:solidFill>
                  <a:srgbClr val="333446"/>
                </a:solidFill>
                <a:latin typeface="Lucida Sans Unicode"/>
                <a:cs typeface="Lucida Sans Unicode"/>
              </a:rPr>
              <a:t>A:87),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mengindikasikan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potensi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 PEG </a:t>
            </a:r>
            <a:r>
              <a:rPr dirty="0" sz="2600" spc="155">
                <a:solidFill>
                  <a:srgbClr val="333446"/>
                </a:solidFill>
                <a:latin typeface="Lucida Sans Unicode"/>
                <a:cs typeface="Lucida Sans Unicode"/>
              </a:rPr>
              <a:t>dan</a:t>
            </a:r>
            <a:r>
              <a:rPr dirty="0" sz="2600" spc="-1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333446"/>
                </a:solidFill>
                <a:latin typeface="Lucida Sans Unicode"/>
                <a:cs typeface="Lucida Sans Unicode"/>
              </a:rPr>
              <a:t>sebagai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inhibitor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kompetitif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10">
                <a:solidFill>
                  <a:srgbClr val="333446"/>
                </a:solidFill>
                <a:latin typeface="Lucida Sans Unicode"/>
                <a:cs typeface="Lucida Sans Unicode"/>
              </a:rPr>
              <a:t>terhadap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TRS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secara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in</a:t>
            </a:r>
            <a:r>
              <a:rPr dirty="0" sz="2600" spc="-1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silico </a:t>
            </a:r>
            <a:r>
              <a:rPr dirty="0" sz="2600" spc="105">
                <a:solidFill>
                  <a:srgbClr val="333446"/>
                </a:solidFill>
                <a:latin typeface="Lucida Sans Unicode"/>
                <a:cs typeface="Lucida Sans Unicode"/>
              </a:rPr>
              <a:t>(Ren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i="1">
                <a:solidFill>
                  <a:srgbClr val="333446"/>
                </a:solidFill>
                <a:latin typeface="Verdana"/>
                <a:cs typeface="Verdana"/>
              </a:rPr>
              <a:t>et</a:t>
            </a:r>
            <a:r>
              <a:rPr dirty="0" sz="2600" spc="-135" i="1">
                <a:solidFill>
                  <a:srgbClr val="333446"/>
                </a:solidFill>
                <a:latin typeface="Verdana"/>
                <a:cs typeface="Verdana"/>
              </a:rPr>
              <a:t> </a:t>
            </a:r>
            <a:r>
              <a:rPr dirty="0" sz="2600" spc="-130" i="1">
                <a:solidFill>
                  <a:srgbClr val="333446"/>
                </a:solidFill>
                <a:latin typeface="Verdana"/>
                <a:cs typeface="Verdana"/>
              </a:rPr>
              <a:t>al</a:t>
            </a:r>
            <a:r>
              <a:rPr dirty="0" sz="2600" spc="-130">
                <a:solidFill>
                  <a:srgbClr val="333446"/>
                </a:solidFill>
                <a:latin typeface="Lucida Sans Unicode"/>
                <a:cs typeface="Lucida Sans Unicode"/>
              </a:rPr>
              <a:t>.,</a:t>
            </a:r>
            <a:r>
              <a:rPr dirty="0" sz="2600" spc="-1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0">
                <a:solidFill>
                  <a:srgbClr val="333446"/>
                </a:solidFill>
                <a:latin typeface="Lucida Sans Unicode"/>
                <a:cs typeface="Lucida Sans Unicode"/>
              </a:rPr>
              <a:t>2021).</a:t>
            </a:r>
            <a:endParaRPr sz="2600">
              <a:latin typeface="Lucida Sans Unicode"/>
              <a:cs typeface="Lucida Sans Unicode"/>
            </a:endParaRPr>
          </a:p>
          <a:p>
            <a:pPr marL="12700" marR="5080">
              <a:lnSpc>
                <a:spcPct val="115399"/>
              </a:lnSpc>
            </a:pP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6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menunjukkan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jumlah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interaksi</a:t>
            </a:r>
            <a:r>
              <a:rPr dirty="0" sz="26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lebih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10">
                <a:solidFill>
                  <a:srgbClr val="333446"/>
                </a:solidFill>
                <a:latin typeface="Lucida Sans Unicode"/>
                <a:cs typeface="Lucida Sans Unicode"/>
              </a:rPr>
              <a:t>banyak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(4</a:t>
            </a:r>
            <a:r>
              <a:rPr dirty="0" sz="26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residu) </a:t>
            </a:r>
            <a:r>
              <a:rPr dirty="0" sz="2600" spc="60">
                <a:solidFill>
                  <a:srgbClr val="333446"/>
                </a:solidFill>
                <a:latin typeface="Lucida Sans Unicode"/>
                <a:cs typeface="Lucida Sans Unicode"/>
              </a:rPr>
              <a:t>dibandingkan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0">
                <a:solidFill>
                  <a:srgbClr val="333446"/>
                </a:solidFill>
                <a:latin typeface="Lucida Sans Unicode"/>
                <a:cs typeface="Lucida Sans Unicode"/>
              </a:rPr>
              <a:t>EDO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90">
                <a:solidFill>
                  <a:srgbClr val="333446"/>
                </a:solidFill>
                <a:latin typeface="Lucida Sans Unicode"/>
                <a:cs typeface="Lucida Sans Unicode"/>
              </a:rPr>
              <a:t>(3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residu),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85">
                <a:solidFill>
                  <a:srgbClr val="333446"/>
                </a:solidFill>
                <a:latin typeface="Lucida Sans Unicode"/>
                <a:cs typeface="Lucida Sans Unicode"/>
              </a:rPr>
              <a:t>sehingga</a:t>
            </a:r>
            <a:r>
              <a:rPr dirty="0" sz="2600" spc="-10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PEG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50">
                <a:solidFill>
                  <a:srgbClr val="333446"/>
                </a:solidFill>
                <a:latin typeface="Lucida Sans Unicode"/>
                <a:cs typeface="Lucida Sans Unicode"/>
              </a:rPr>
              <a:t>secara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kualitatif</a:t>
            </a:r>
            <a:r>
              <a:rPr dirty="0" sz="2600" spc="-9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333446"/>
                </a:solidFill>
                <a:latin typeface="Lucida Sans Unicode"/>
                <a:cs typeface="Lucida Sans Unicode"/>
              </a:rPr>
              <a:t>memiliki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potensi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kestabilan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333446"/>
                </a:solidFill>
                <a:latin typeface="Lucida Sans Unicode"/>
                <a:cs typeface="Lucida Sans Unicode"/>
              </a:rPr>
              <a:t>ikatan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>
                <a:solidFill>
                  <a:srgbClr val="333446"/>
                </a:solidFill>
                <a:latin typeface="Lucida Sans Unicode"/>
                <a:cs typeface="Lucida Sans Unicode"/>
              </a:rPr>
              <a:t>yang</a:t>
            </a:r>
            <a:r>
              <a:rPr dirty="0" sz="26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lebih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baik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210">
                <a:solidFill>
                  <a:srgbClr val="333446"/>
                </a:solidFill>
                <a:latin typeface="Lucida Sans Unicode"/>
                <a:cs typeface="Lucida Sans Unicode"/>
              </a:rPr>
              <a:t>pada</a:t>
            </a:r>
            <a:r>
              <a:rPr dirty="0" sz="26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situs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0">
                <a:solidFill>
                  <a:srgbClr val="333446"/>
                </a:solidFill>
                <a:latin typeface="Lucida Sans Unicode"/>
                <a:cs typeface="Lucida Sans Unicode"/>
              </a:rPr>
              <a:t>aktif</a:t>
            </a:r>
            <a:r>
              <a:rPr dirty="0" sz="26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26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440">
                <a:solidFill>
                  <a:srgbClr val="333446"/>
                </a:solidFill>
                <a:latin typeface="Lucida Sans Unicode"/>
                <a:cs typeface="Lucida Sans Unicode"/>
              </a:rPr>
              <a:t>M1 </a:t>
            </a:r>
            <a:r>
              <a:rPr dirty="0" sz="260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2600" spc="-1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333446"/>
                </a:solidFill>
                <a:latin typeface="Lucida Sans Unicode"/>
                <a:cs typeface="Lucida Sans Unicode"/>
              </a:rPr>
              <a:t>A.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68525">
              <a:lnSpc>
                <a:spcPct val="100000"/>
              </a:lnSpc>
              <a:spcBef>
                <a:spcPts val="100"/>
              </a:spcBef>
            </a:pPr>
            <a:r>
              <a:rPr dirty="0" spc="-405"/>
              <a:t>KESIMPULAN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6209" y="0"/>
            <a:ext cx="6889912" cy="333003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64285">
              <a:lnSpc>
                <a:spcPct val="100000"/>
              </a:lnSpc>
              <a:spcBef>
                <a:spcPts val="100"/>
              </a:spcBef>
            </a:pPr>
            <a:r>
              <a:rPr dirty="0" spc="-280"/>
              <a:t>DAFTAR</a:t>
            </a:r>
            <a:r>
              <a:rPr dirty="0" spc="525"/>
              <a:t> </a:t>
            </a:r>
            <a:r>
              <a:rPr dirty="0" spc="-295"/>
              <a:t>PU</a:t>
            </a:r>
            <a:r>
              <a:rPr dirty="0" spc="-795"/>
              <a:t>S</a:t>
            </a:r>
            <a:r>
              <a:rPr dirty="0" spc="-525"/>
              <a:t>T</a:t>
            </a:r>
            <a:r>
              <a:rPr dirty="0" spc="-290"/>
              <a:t>A</a:t>
            </a:r>
            <a:r>
              <a:rPr dirty="0" spc="-500"/>
              <a:t>K</a:t>
            </a:r>
            <a:r>
              <a:rPr dirty="0" spc="-285"/>
              <a:t>A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95439" y="5932541"/>
            <a:ext cx="2292560" cy="435445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91970" y="0"/>
            <a:ext cx="2896029" cy="3103126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118"/>
            <a:ext cx="1683385" cy="3305810"/>
            <a:chOff x="0" y="118"/>
            <a:chExt cx="1683385" cy="330581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18"/>
              <a:ext cx="1682770" cy="330563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016" y="1954167"/>
              <a:ext cx="85725" cy="857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016" y="2620917"/>
              <a:ext cx="85725" cy="85725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3621042"/>
            <a:ext cx="85725" cy="8572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4287792"/>
            <a:ext cx="85725" cy="8572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4621167"/>
            <a:ext cx="85725" cy="8572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5287917"/>
            <a:ext cx="85725" cy="8572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5954667"/>
            <a:ext cx="85725" cy="8572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6954791"/>
            <a:ext cx="85725" cy="8572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7621541"/>
            <a:ext cx="85725" cy="8572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7954916"/>
            <a:ext cx="85725" cy="8572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8288291"/>
            <a:ext cx="85725" cy="8572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016" y="8621666"/>
            <a:ext cx="85725" cy="85725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911036" y="1789695"/>
            <a:ext cx="16266160" cy="70262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900" spc="70">
                <a:solidFill>
                  <a:srgbClr val="333446"/>
                </a:solidFill>
                <a:latin typeface="Lucida Sans Unicode"/>
                <a:cs typeface="Lucida Sans Unicode"/>
              </a:rPr>
              <a:t>Mecate-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Zambrano,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5">
                <a:solidFill>
                  <a:srgbClr val="333446"/>
                </a:solidFill>
                <a:latin typeface="Lucida Sans Unicode"/>
                <a:cs typeface="Lucida Sans Unicode"/>
              </a:rPr>
              <a:t>A.,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Sukumar,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S.,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45">
                <a:solidFill>
                  <a:srgbClr val="333446"/>
                </a:solidFill>
                <a:latin typeface="Lucida Sans Unicode"/>
                <a:cs typeface="Lucida Sans Unicode"/>
              </a:rPr>
              <a:t>Seebohm,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333446"/>
                </a:solidFill>
                <a:latin typeface="Lucida Sans Unicode"/>
                <a:cs typeface="Lucida Sans Unicode"/>
              </a:rPr>
              <a:t>G.,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Ciminski,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90">
                <a:solidFill>
                  <a:srgbClr val="333446"/>
                </a:solidFill>
                <a:latin typeface="Lucida Sans Unicode"/>
                <a:cs typeface="Lucida Sans Unicode"/>
              </a:rPr>
              <a:t>K.,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Schreiber,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5">
                <a:solidFill>
                  <a:srgbClr val="333446"/>
                </a:solidFill>
                <a:latin typeface="Lucida Sans Unicode"/>
                <a:cs typeface="Lucida Sans Unicode"/>
              </a:rPr>
              <a:t>A.,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Anhlan,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D.,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Greune,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15">
                <a:solidFill>
                  <a:srgbClr val="333446"/>
                </a:solidFill>
                <a:latin typeface="Lucida Sans Unicode"/>
                <a:cs typeface="Lucida Sans Unicode"/>
              </a:rPr>
              <a:t>L.,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Wixler,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15">
                <a:solidFill>
                  <a:srgbClr val="333446"/>
                </a:solidFill>
                <a:latin typeface="Lucida Sans Unicode"/>
                <a:cs typeface="Lucida Sans Unicode"/>
              </a:rPr>
              <a:t>L.,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Grothe,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S.,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Stein,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5">
                <a:solidFill>
                  <a:srgbClr val="333446"/>
                </a:solidFill>
                <a:latin typeface="Lucida Sans Unicode"/>
                <a:cs typeface="Lucida Sans Unicode"/>
              </a:rPr>
              <a:t>N.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333446"/>
                </a:solidFill>
                <a:latin typeface="Lucida Sans Unicode"/>
                <a:cs typeface="Lucida Sans Unicode"/>
              </a:rPr>
              <a:t>C.,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Schmidt,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900" spc="-120">
                <a:solidFill>
                  <a:srgbClr val="333446"/>
                </a:solidFill>
                <a:latin typeface="Lucida Sans Unicode"/>
                <a:cs typeface="Lucida Sans Unicode"/>
              </a:rPr>
              <a:t>M.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5">
                <a:solidFill>
                  <a:srgbClr val="333446"/>
                </a:solidFill>
                <a:latin typeface="Lucida Sans Unicode"/>
                <a:cs typeface="Lucida Sans Unicode"/>
              </a:rPr>
              <a:t>A.,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Langer,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90">
                <a:solidFill>
                  <a:srgbClr val="333446"/>
                </a:solidFill>
                <a:latin typeface="Lucida Sans Unicode"/>
                <a:cs typeface="Lucida Sans Unicode"/>
              </a:rPr>
              <a:t>K.,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55">
                <a:solidFill>
                  <a:srgbClr val="333446"/>
                </a:solidFill>
                <a:latin typeface="Lucida Sans Unicode"/>
                <a:cs typeface="Lucida Sans Unicode"/>
              </a:rPr>
              <a:t>Schwemmle,</a:t>
            </a:r>
            <a:r>
              <a:rPr dirty="0" sz="19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0">
                <a:solidFill>
                  <a:srgbClr val="333446"/>
                </a:solidFill>
                <a:latin typeface="Lucida Sans Unicode"/>
                <a:cs typeface="Lucida Sans Unicode"/>
              </a:rPr>
              <a:t>M.,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Shi,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15">
                <a:solidFill>
                  <a:srgbClr val="333446"/>
                </a:solidFill>
                <a:latin typeface="Lucida Sans Unicode"/>
                <a:cs typeface="Lucida Sans Unicode"/>
              </a:rPr>
              <a:t>T.,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Ludwig,</a:t>
            </a:r>
            <a:r>
              <a:rPr dirty="0" sz="1900" spc="-7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S.,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Boergeling,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55">
                <a:solidFill>
                  <a:srgbClr val="333446"/>
                </a:solidFill>
                <a:latin typeface="Lucida Sans Unicode"/>
                <a:cs typeface="Lucida Sans Unicode"/>
              </a:rPr>
              <a:t>Y.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(2020).</a:t>
            </a:r>
            <a:endParaRPr sz="1900">
              <a:latin typeface="Lucida Sans Unicode"/>
              <a:cs typeface="Lucida Sans Unicode"/>
            </a:endParaRPr>
          </a:p>
          <a:p>
            <a:pPr marL="12700" marR="814069">
              <a:lnSpc>
                <a:spcPct val="115100"/>
              </a:lnSpc>
            </a:pP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Discrete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spatio-</a:t>
            </a:r>
            <a:r>
              <a:rPr dirty="0" sz="1900" spc="50">
                <a:solidFill>
                  <a:srgbClr val="333446"/>
                </a:solidFill>
                <a:latin typeface="Lucida Sans Unicode"/>
                <a:cs typeface="Lucida Sans Unicode"/>
              </a:rPr>
              <a:t>temporal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regulation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tyrosine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phosphorylation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directs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influenza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15">
                <a:solidFill>
                  <a:srgbClr val="333446"/>
                </a:solidFill>
                <a:latin typeface="Lucida Sans Unicode"/>
                <a:cs typeface="Lucida Sans Unicode"/>
              </a:rPr>
              <a:t>M1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50">
                <a:solidFill>
                  <a:srgbClr val="333446"/>
                </a:solidFill>
                <a:latin typeface="Lucida Sans Unicode"/>
                <a:cs typeface="Lucida Sans Unicode"/>
              </a:rPr>
              <a:t>towards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its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function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in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virion </a:t>
            </a:r>
            <a:r>
              <a:rPr dirty="0" sz="1900" spc="45">
                <a:solidFill>
                  <a:srgbClr val="333446"/>
                </a:solidFill>
                <a:latin typeface="Lucida Sans Unicode"/>
                <a:cs typeface="Lucida Sans Unicode"/>
              </a:rPr>
              <a:t>assembly.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PLoS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pathogens,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16(8),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e1008775.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333446"/>
                </a:solidFill>
                <a:latin typeface="Lucida Sans Unicode"/>
                <a:cs typeface="Lucida Sans Unicode"/>
              </a:rPr>
              <a:t>https://doi.org/10.171/journal.ppat.1008775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Panuszko, </a:t>
            </a:r>
            <a:r>
              <a:rPr dirty="0" sz="1900" spc="-165">
                <a:solidFill>
                  <a:srgbClr val="333446"/>
                </a:solidFill>
                <a:latin typeface="Lucida Sans Unicode"/>
                <a:cs typeface="Lucida Sans Unicode"/>
              </a:rPr>
              <a:t>A.,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Bruździak,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333446"/>
                </a:solidFill>
                <a:latin typeface="Lucida Sans Unicode"/>
                <a:cs typeface="Lucida Sans Unicode"/>
              </a:rPr>
              <a:t>P.,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Kaczkowska,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70">
                <a:solidFill>
                  <a:srgbClr val="333446"/>
                </a:solidFill>
                <a:latin typeface="Lucida Sans Unicode"/>
                <a:cs typeface="Lucida Sans Unicode"/>
              </a:rPr>
              <a:t>E.,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5">
                <a:solidFill>
                  <a:srgbClr val="333446"/>
                </a:solidFill>
                <a:latin typeface="Lucida Sans Unicode"/>
                <a:cs typeface="Lucida Sans Unicode"/>
              </a:rPr>
              <a:t>&amp;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Stangret,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00">
                <a:solidFill>
                  <a:srgbClr val="333446"/>
                </a:solidFill>
                <a:latin typeface="Lucida Sans Unicode"/>
                <a:cs typeface="Lucida Sans Unicode"/>
              </a:rPr>
              <a:t>J.</a:t>
            </a:r>
            <a:r>
              <a:rPr dirty="0" sz="1900" spc="-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(2016).</a:t>
            </a:r>
            <a:endParaRPr sz="1900">
              <a:latin typeface="Lucida Sans Unicode"/>
              <a:cs typeface="Lucida Sans Unicode"/>
            </a:endParaRPr>
          </a:p>
          <a:p>
            <a:pPr marL="12700" marR="200660">
              <a:lnSpc>
                <a:spcPct val="115100"/>
              </a:lnSpc>
            </a:pPr>
            <a:r>
              <a:rPr dirty="0" sz="1900" spc="55">
                <a:solidFill>
                  <a:srgbClr val="333446"/>
                </a:solidFill>
                <a:latin typeface="Lucida Sans Unicode"/>
                <a:cs typeface="Lucida Sans Unicode"/>
              </a:rPr>
              <a:t>General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70">
                <a:solidFill>
                  <a:srgbClr val="333446"/>
                </a:solidFill>
                <a:latin typeface="Lucida Sans Unicode"/>
                <a:cs typeface="Lucida Sans Unicode"/>
              </a:rPr>
              <a:t>Mechanism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Osmolytes'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Influence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on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Stability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Irrespective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Type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Osmolyte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Cosolvent.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journal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40">
                <a:solidFill>
                  <a:srgbClr val="333446"/>
                </a:solidFill>
                <a:latin typeface="Lucida Sans Unicode"/>
                <a:cs typeface="Lucida Sans Unicode"/>
              </a:rPr>
              <a:t>physical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chemistry.</a:t>
            </a:r>
            <a:r>
              <a:rPr dirty="0" sz="19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5">
                <a:solidFill>
                  <a:srgbClr val="333446"/>
                </a:solidFill>
                <a:latin typeface="Lucida Sans Unicode"/>
                <a:cs typeface="Lucida Sans Unicode"/>
              </a:rPr>
              <a:t>B,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5">
                <a:solidFill>
                  <a:srgbClr val="333446"/>
                </a:solidFill>
                <a:latin typeface="Lucida Sans Unicode"/>
                <a:cs typeface="Lucida Sans Unicode"/>
              </a:rPr>
              <a:t>120(43),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95">
                <a:solidFill>
                  <a:srgbClr val="333446"/>
                </a:solidFill>
                <a:latin typeface="Lucida Sans Unicode"/>
                <a:cs typeface="Lucida Sans Unicode"/>
              </a:rPr>
              <a:t>11159–11169.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5">
                <a:solidFill>
                  <a:srgbClr val="333446"/>
                </a:solidFill>
                <a:latin typeface="Lucida Sans Unicode"/>
                <a:cs typeface="Lucida Sans Unicode"/>
              </a:rPr>
              <a:t>https://doi.org/10.1021/acs.jpcb.6b10119</a:t>
            </a:r>
            <a:endParaRPr sz="1900">
              <a:latin typeface="Lucida Sans Unicode"/>
              <a:cs typeface="Lucida Sans Unicode"/>
            </a:endParaRPr>
          </a:p>
          <a:p>
            <a:pPr marL="12700" marR="549275">
              <a:lnSpc>
                <a:spcPct val="115100"/>
              </a:lnSpc>
            </a:pP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Paggi,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00">
                <a:solidFill>
                  <a:srgbClr val="333446"/>
                </a:solidFill>
                <a:latin typeface="Lucida Sans Unicode"/>
                <a:cs typeface="Lucida Sans Unicode"/>
              </a:rPr>
              <a:t>J.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0">
                <a:solidFill>
                  <a:srgbClr val="333446"/>
                </a:solidFill>
                <a:latin typeface="Lucida Sans Unicode"/>
                <a:cs typeface="Lucida Sans Unicode"/>
              </a:rPr>
              <a:t>M.,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Pandit,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5">
                <a:solidFill>
                  <a:srgbClr val="333446"/>
                </a:solidFill>
                <a:latin typeface="Lucida Sans Unicode"/>
                <a:cs typeface="Lucida Sans Unicode"/>
              </a:rPr>
              <a:t>A.,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333446"/>
                </a:solidFill>
                <a:latin typeface="Lucida Sans Unicode"/>
                <a:cs typeface="Lucida Sans Unicode"/>
              </a:rPr>
              <a:t>Dror,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5">
                <a:solidFill>
                  <a:srgbClr val="333446"/>
                </a:solidFill>
                <a:latin typeface="Lucida Sans Unicode"/>
                <a:cs typeface="Lucida Sans Unicode"/>
              </a:rPr>
              <a:t>R.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333446"/>
                </a:solidFill>
                <a:latin typeface="Lucida Sans Unicode"/>
                <a:cs typeface="Lucida Sans Unicode"/>
              </a:rPr>
              <a:t>O.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(2024).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The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art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10">
                <a:solidFill>
                  <a:srgbClr val="333446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70">
                <a:solidFill>
                  <a:srgbClr val="333446"/>
                </a:solidFill>
                <a:latin typeface="Lucida Sans Unicode"/>
                <a:cs typeface="Lucida Sans Unicode"/>
              </a:rPr>
              <a:t>science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55">
                <a:solidFill>
                  <a:srgbClr val="333446"/>
                </a:solidFill>
                <a:latin typeface="Lucida Sans Unicode"/>
                <a:cs typeface="Lucida Sans Unicode"/>
              </a:rPr>
              <a:t>molecular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docking.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Annual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review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biochemistry,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5">
                <a:solidFill>
                  <a:srgbClr val="333446"/>
                </a:solidFill>
                <a:latin typeface="Lucida Sans Unicode"/>
                <a:cs typeface="Lucida Sans Unicode"/>
              </a:rPr>
              <a:t>93(1),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389-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410.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Pranathi,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0">
                <a:solidFill>
                  <a:srgbClr val="333446"/>
                </a:solidFill>
                <a:latin typeface="Lucida Sans Unicode"/>
                <a:cs typeface="Lucida Sans Unicode"/>
              </a:rPr>
              <a:t>A.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75">
                <a:solidFill>
                  <a:srgbClr val="333446"/>
                </a:solidFill>
                <a:latin typeface="Lucida Sans Unicode"/>
                <a:cs typeface="Lucida Sans Unicode"/>
              </a:rPr>
              <a:t>N.,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Nagineni,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D.,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Bollikanda,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5">
                <a:solidFill>
                  <a:srgbClr val="333446"/>
                </a:solidFill>
                <a:latin typeface="Lucida Sans Unicode"/>
                <a:cs typeface="Lucida Sans Unicode"/>
              </a:rPr>
              <a:t>R.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90">
                <a:solidFill>
                  <a:srgbClr val="333446"/>
                </a:solidFill>
                <a:latin typeface="Lucida Sans Unicode"/>
                <a:cs typeface="Lucida Sans Unicode"/>
              </a:rPr>
              <a:t>K.,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55">
                <a:solidFill>
                  <a:srgbClr val="333446"/>
                </a:solidFill>
                <a:latin typeface="Lucida Sans Unicode"/>
                <a:cs typeface="Lucida Sans Unicode"/>
              </a:rPr>
              <a:t>Belyaevskaya,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S.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333446"/>
                </a:solidFill>
                <a:latin typeface="Lucida Sans Unicode"/>
                <a:cs typeface="Lucida Sans Unicode"/>
              </a:rPr>
              <a:t>V.,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Esaulkova,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55">
                <a:solidFill>
                  <a:srgbClr val="333446"/>
                </a:solidFill>
                <a:latin typeface="Lucida Sans Unicode"/>
                <a:cs typeface="Lucida Sans Unicode"/>
              </a:rPr>
              <a:t>I.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15">
                <a:solidFill>
                  <a:srgbClr val="333446"/>
                </a:solidFill>
                <a:latin typeface="Lucida Sans Unicode"/>
                <a:cs typeface="Lucida Sans Unicode"/>
              </a:rPr>
              <a:t>L.,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Zarubaev,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333446"/>
                </a:solidFill>
                <a:latin typeface="Lucida Sans Unicode"/>
                <a:cs typeface="Lucida Sans Unicode"/>
              </a:rPr>
              <a:t>V.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333446"/>
                </a:solidFill>
                <a:latin typeface="Lucida Sans Unicode"/>
                <a:cs typeface="Lucida Sans Unicode"/>
              </a:rPr>
              <a:t>V.,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Sridhar,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0">
                <a:solidFill>
                  <a:srgbClr val="333446"/>
                </a:solidFill>
                <a:latin typeface="Lucida Sans Unicode"/>
                <a:cs typeface="Lucida Sans Unicode"/>
              </a:rPr>
              <a:t>B.,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Murahari,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0">
                <a:solidFill>
                  <a:srgbClr val="333446"/>
                </a:solidFill>
                <a:latin typeface="Lucida Sans Unicode"/>
                <a:cs typeface="Lucida Sans Unicode"/>
              </a:rPr>
              <a:t>M.,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Kantevari,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S.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(2025).</a:t>
            </a:r>
            <a:endParaRPr sz="1900">
              <a:latin typeface="Lucida Sans Unicode"/>
              <a:cs typeface="Lucida Sans Unicode"/>
            </a:endParaRPr>
          </a:p>
          <a:p>
            <a:pPr marL="12700" marR="1108710">
              <a:lnSpc>
                <a:spcPct val="115100"/>
              </a:lnSpc>
            </a:pP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Diaryl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Diimidazopyrimidine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Derivatives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25">
                <a:solidFill>
                  <a:srgbClr val="333446"/>
                </a:solidFill>
                <a:latin typeface="Lucida Sans Unicode"/>
                <a:cs typeface="Lucida Sans Unicode"/>
              </a:rPr>
              <a:t>as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Potent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Inhibitors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5">
                <a:solidFill>
                  <a:srgbClr val="333446"/>
                </a:solidFill>
                <a:latin typeface="Lucida Sans Unicode"/>
                <a:cs typeface="Lucida Sans Unicode"/>
              </a:rPr>
              <a:t>Virus: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Synthesis,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Evaluation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10">
                <a:solidFill>
                  <a:srgbClr val="333446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Docking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Studies.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Drug </a:t>
            </a:r>
            <a:r>
              <a:rPr dirty="0" sz="1900" spc="60">
                <a:solidFill>
                  <a:srgbClr val="333446"/>
                </a:solidFill>
                <a:latin typeface="Lucida Sans Unicode"/>
                <a:cs typeface="Lucida Sans Unicode"/>
              </a:rPr>
              <a:t>development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research,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86(2),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e70088.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https://doi.org/10.1002/ddr.70088Ren,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Y.,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Long,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S.,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Cao,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S.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(2021).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ct val="115100"/>
              </a:lnSpc>
            </a:pP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Molecular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Docking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10">
                <a:solidFill>
                  <a:srgbClr val="333446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Virtual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45">
                <a:solidFill>
                  <a:srgbClr val="333446"/>
                </a:solidFill>
                <a:latin typeface="Lucida Sans Unicode"/>
                <a:cs typeface="Lucida Sans Unicode"/>
              </a:rPr>
              <a:t>Screening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30">
                <a:solidFill>
                  <a:srgbClr val="333446"/>
                </a:solidFill>
                <a:latin typeface="Lucida Sans Unicode"/>
                <a:cs typeface="Lucida Sans Unicode"/>
              </a:rPr>
              <a:t>an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Inhibitor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That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Disrupts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Protein-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Interactions.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Viruses,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35">
                <a:solidFill>
                  <a:srgbClr val="333446"/>
                </a:solidFill>
                <a:latin typeface="Lucida Sans Unicode"/>
                <a:cs typeface="Lucida Sans Unicode"/>
              </a:rPr>
              <a:t>13(11),</a:t>
            </a:r>
            <a:r>
              <a:rPr dirty="0" sz="1900" spc="-5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2229.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https://doi.org/10.3390/v13112229.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Sha,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0">
                <a:solidFill>
                  <a:srgbClr val="333446"/>
                </a:solidFill>
                <a:latin typeface="Lucida Sans Unicode"/>
                <a:cs typeface="Lucida Sans Unicode"/>
              </a:rPr>
              <a:t>B.,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95">
                <a:solidFill>
                  <a:srgbClr val="333446"/>
                </a:solidFill>
                <a:latin typeface="Lucida Sans Unicode"/>
                <a:cs typeface="Lucida Sans Unicode"/>
              </a:rPr>
              <a:t>Luo,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0">
                <a:solidFill>
                  <a:srgbClr val="333446"/>
                </a:solidFill>
                <a:latin typeface="Lucida Sans Unicode"/>
                <a:cs typeface="Lucida Sans Unicode"/>
              </a:rPr>
              <a:t>M.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5">
                <a:solidFill>
                  <a:srgbClr val="333446"/>
                </a:solidFill>
                <a:latin typeface="Lucida Sans Unicode"/>
                <a:cs typeface="Lucida Sans Unicode"/>
              </a:rPr>
              <a:t>(2016).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10">
                <a:solidFill>
                  <a:srgbClr val="333446"/>
                </a:solidFill>
                <a:latin typeface="Lucida Sans Unicode"/>
                <a:cs typeface="Lucida Sans Unicode"/>
              </a:rPr>
              <a:t>2.1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0">
                <a:solidFill>
                  <a:srgbClr val="333446"/>
                </a:solidFill>
                <a:latin typeface="Lucida Sans Unicode"/>
                <a:cs typeface="Lucida Sans Unicode"/>
              </a:rPr>
              <a:t>angstrom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resolution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crystal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structure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matrix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00">
                <a:solidFill>
                  <a:srgbClr val="333446"/>
                </a:solidFill>
                <a:latin typeface="Lucida Sans Unicode"/>
                <a:cs typeface="Lucida Sans Unicode"/>
              </a:rPr>
              <a:t>1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0">
                <a:solidFill>
                  <a:srgbClr val="333446"/>
                </a:solidFill>
                <a:latin typeface="Lucida Sans Unicode"/>
                <a:cs typeface="Lucida Sans Unicode"/>
              </a:rPr>
              <a:t>(M1;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residues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1–164)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from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(A/Puerto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Rico/8/34(H1N1))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(PDB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35">
                <a:solidFill>
                  <a:srgbClr val="333446"/>
                </a:solidFill>
                <a:latin typeface="Lucida Sans Unicode"/>
                <a:cs typeface="Lucida Sans Unicode"/>
              </a:rPr>
              <a:t>ID: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5CQE).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85">
                <a:solidFill>
                  <a:srgbClr val="333446"/>
                </a:solidFill>
                <a:latin typeface="Lucida Sans Unicode"/>
                <a:cs typeface="Lucida Sans Unicode"/>
              </a:rPr>
              <a:t>Data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Bank.</a:t>
            </a:r>
            <a:r>
              <a:rPr dirty="0" sz="1900" spc="-6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https://doi.org/10.2210/pdb5CQE/pdb</a:t>
            </a:r>
            <a:endParaRPr sz="1900">
              <a:latin typeface="Lucida Sans Unicode"/>
              <a:cs typeface="Lucida Sans Unicode"/>
            </a:endParaRPr>
          </a:p>
          <a:p>
            <a:pPr marL="12700" marR="517525">
              <a:lnSpc>
                <a:spcPct val="115100"/>
              </a:lnSpc>
              <a:spcBef>
                <a:spcPts val="5"/>
              </a:spcBef>
            </a:pPr>
            <a:r>
              <a:rPr dirty="0" sz="1900" spc="70">
                <a:solidFill>
                  <a:srgbClr val="333446"/>
                </a:solidFill>
                <a:latin typeface="Lucida Sans Unicode"/>
                <a:cs typeface="Lucida Sans Unicode"/>
              </a:rPr>
              <a:t>Mecate-Zambrano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5">
                <a:solidFill>
                  <a:srgbClr val="333446"/>
                </a:solidFill>
                <a:latin typeface="Lucida Sans Unicode"/>
                <a:cs typeface="Lucida Sans Unicode"/>
              </a:rPr>
              <a:t>A,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45">
                <a:solidFill>
                  <a:srgbClr val="333446"/>
                </a:solidFill>
                <a:latin typeface="Lucida Sans Unicode"/>
                <a:cs typeface="Lucida Sans Unicode"/>
              </a:rPr>
              <a:t>Sukumar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S,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85">
                <a:solidFill>
                  <a:srgbClr val="333446"/>
                </a:solidFill>
                <a:latin typeface="Lucida Sans Unicode"/>
                <a:cs typeface="Lucida Sans Unicode"/>
              </a:rPr>
              <a:t>Seebohm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G,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Ciminski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K,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Schreiber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5">
                <a:solidFill>
                  <a:srgbClr val="333446"/>
                </a:solidFill>
                <a:latin typeface="Lucida Sans Unicode"/>
                <a:cs typeface="Lucida Sans Unicode"/>
              </a:rPr>
              <a:t>A,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Anhlan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5">
                <a:solidFill>
                  <a:srgbClr val="333446"/>
                </a:solidFill>
                <a:latin typeface="Lucida Sans Unicode"/>
                <a:cs typeface="Lucida Sans Unicode"/>
              </a:rPr>
              <a:t>D,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et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al.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(2020)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Discrete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spatio-</a:t>
            </a:r>
            <a:r>
              <a:rPr dirty="0" sz="1900" spc="55">
                <a:solidFill>
                  <a:srgbClr val="333446"/>
                </a:solidFill>
                <a:latin typeface="Lucida Sans Unicode"/>
                <a:cs typeface="Lucida Sans Unicode"/>
              </a:rPr>
              <a:t>temporal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regulation</a:t>
            </a:r>
            <a:r>
              <a:rPr dirty="0" sz="1900" spc="-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333446"/>
                </a:solidFill>
                <a:latin typeface="Lucida Sans Unicode"/>
                <a:cs typeface="Lucida Sans Unicode"/>
              </a:rPr>
              <a:t>of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tyrosine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phosphorylation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directs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virus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15">
                <a:solidFill>
                  <a:srgbClr val="333446"/>
                </a:solidFill>
                <a:latin typeface="Lucida Sans Unicode"/>
                <a:cs typeface="Lucida Sans Unicode"/>
              </a:rPr>
              <a:t>M1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50">
                <a:solidFill>
                  <a:srgbClr val="333446"/>
                </a:solidFill>
                <a:latin typeface="Lucida Sans Unicode"/>
                <a:cs typeface="Lucida Sans Unicode"/>
              </a:rPr>
              <a:t>towards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its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function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in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virion</a:t>
            </a:r>
            <a:r>
              <a:rPr dirty="0" sz="1900" spc="-3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35">
                <a:solidFill>
                  <a:srgbClr val="333446"/>
                </a:solidFill>
                <a:latin typeface="Lucida Sans Unicode"/>
                <a:cs typeface="Lucida Sans Unicode"/>
              </a:rPr>
              <a:t>assembly.</a:t>
            </a:r>
            <a:endParaRPr sz="1900">
              <a:latin typeface="Lucida Sans Unicode"/>
              <a:cs typeface="Lucida Sans Unicode"/>
            </a:endParaRPr>
          </a:p>
          <a:p>
            <a:pPr marL="12700" marR="7650480">
              <a:lnSpc>
                <a:spcPct val="115100"/>
              </a:lnSpc>
            </a:pP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PLoS</a:t>
            </a:r>
            <a:r>
              <a:rPr dirty="0" sz="1900" spc="-9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Pathog</a:t>
            </a:r>
            <a:r>
              <a:rPr dirty="0" sz="19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16(8):</a:t>
            </a:r>
            <a:r>
              <a:rPr dirty="0" sz="1900" spc="-8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e1008775.</a:t>
            </a:r>
            <a:r>
              <a:rPr dirty="0" sz="1900" spc="-85">
                <a:solidFill>
                  <a:srgbClr val="333446"/>
                </a:solidFill>
                <a:latin typeface="Lucida Sans Unicode"/>
                <a:cs typeface="Lucida Sans Unicode"/>
              </a:rPr>
              <a:t> https://doi.org/10.1371/journal.ppat.1008775 </a:t>
            </a:r>
            <a:r>
              <a:rPr dirty="0" sz="1900" spc="-80">
                <a:solidFill>
                  <a:srgbClr val="333446"/>
                </a:solidFill>
                <a:latin typeface="Lucida Sans Unicode"/>
                <a:cs typeface="Lucida Sans Unicode"/>
              </a:rPr>
              <a:t>Zhu,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Y.,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Sun,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Y.,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333446"/>
                </a:solidFill>
                <a:latin typeface="Lucida Sans Unicode"/>
                <a:cs typeface="Lucida Sans Unicode"/>
              </a:rPr>
              <a:t>Deng,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55">
                <a:solidFill>
                  <a:srgbClr val="333446"/>
                </a:solidFill>
                <a:latin typeface="Lucida Sans Unicode"/>
                <a:cs typeface="Lucida Sans Unicode"/>
              </a:rPr>
              <a:t>X.,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Cao,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40">
                <a:solidFill>
                  <a:srgbClr val="333446"/>
                </a:solidFill>
                <a:latin typeface="Lucida Sans Unicode"/>
                <a:cs typeface="Lucida Sans Unicode"/>
              </a:rPr>
              <a:t>P.,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0">
                <a:solidFill>
                  <a:srgbClr val="333446"/>
                </a:solidFill>
                <a:latin typeface="Lucida Sans Unicode"/>
                <a:cs typeface="Lucida Sans Unicode"/>
              </a:rPr>
              <a:t>Li,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25">
                <a:solidFill>
                  <a:srgbClr val="333446"/>
                </a:solidFill>
                <a:latin typeface="Lucida Sans Unicode"/>
                <a:cs typeface="Lucida Sans Unicode"/>
              </a:rPr>
              <a:t>S.,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333446"/>
                </a:solidFill>
                <a:latin typeface="Lucida Sans Unicode"/>
                <a:cs typeface="Lucida Sans Unicode"/>
              </a:rPr>
              <a:t>Yu,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85">
                <a:solidFill>
                  <a:srgbClr val="333446"/>
                </a:solidFill>
                <a:latin typeface="Lucida Sans Unicode"/>
                <a:cs typeface="Lucida Sans Unicode"/>
              </a:rPr>
              <a:t>H.,</a:t>
            </a:r>
            <a:r>
              <a:rPr dirty="0" sz="1900" spc="-7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10">
                <a:solidFill>
                  <a:srgbClr val="333446"/>
                </a:solidFill>
                <a:latin typeface="Lucida Sans Unicode"/>
                <a:cs typeface="Lucida Sans Unicode"/>
              </a:rPr>
              <a:t>...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Cong,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55">
                <a:solidFill>
                  <a:srgbClr val="333446"/>
                </a:solidFill>
                <a:latin typeface="Lucida Sans Unicode"/>
                <a:cs typeface="Lucida Sans Unicode"/>
              </a:rPr>
              <a:t>Y.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(2025).</a:t>
            </a:r>
            <a:r>
              <a:rPr dirty="0" sz="1900" spc="-6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Matrix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protein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00">
                <a:solidFill>
                  <a:srgbClr val="333446"/>
                </a:solidFill>
                <a:latin typeface="Lucida Sans Unicode"/>
                <a:cs typeface="Lucida Sans Unicode"/>
              </a:rPr>
              <a:t>1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0">
                <a:solidFill>
                  <a:srgbClr val="333446"/>
                </a:solidFill>
                <a:latin typeface="Lucida Sans Unicode"/>
                <a:cs typeface="Lucida Sans Unicode"/>
              </a:rPr>
              <a:t>(M1)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of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influenza</a:t>
            </a:r>
            <a:r>
              <a:rPr dirty="0" sz="19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A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0">
                <a:solidFill>
                  <a:srgbClr val="333446"/>
                </a:solidFill>
                <a:latin typeface="Lucida Sans Unicode"/>
                <a:cs typeface="Lucida Sans Unicode"/>
              </a:rPr>
              <a:t>virus: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structural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110">
                <a:solidFill>
                  <a:srgbClr val="333446"/>
                </a:solidFill>
                <a:latin typeface="Lucida Sans Unicode"/>
                <a:cs typeface="Lucida Sans Unicode"/>
              </a:rPr>
              <a:t>and</a:t>
            </a:r>
            <a:r>
              <a:rPr dirty="0" sz="1900" spc="-5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functional</a:t>
            </a:r>
            <a:r>
              <a:rPr dirty="0" sz="1900" spc="-4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insights.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Emerging</a:t>
            </a:r>
            <a:r>
              <a:rPr dirty="0" sz="1900" spc="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333446"/>
                </a:solidFill>
                <a:latin typeface="Lucida Sans Unicode"/>
                <a:cs typeface="Lucida Sans Unicode"/>
              </a:rPr>
              <a:t>Microbes</a:t>
            </a:r>
            <a:r>
              <a:rPr dirty="0" sz="1900" spc="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65">
                <a:solidFill>
                  <a:srgbClr val="333446"/>
                </a:solidFill>
                <a:latin typeface="Lucida Sans Unicode"/>
                <a:cs typeface="Lucida Sans Unicode"/>
              </a:rPr>
              <a:t>&amp;</a:t>
            </a:r>
            <a:r>
              <a:rPr dirty="0" sz="1900" spc="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Infections,</a:t>
            </a:r>
            <a:r>
              <a:rPr dirty="0" sz="1900" spc="20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70">
                <a:solidFill>
                  <a:srgbClr val="333446"/>
                </a:solidFill>
                <a:latin typeface="Lucida Sans Unicode"/>
                <a:cs typeface="Lucida Sans Unicode"/>
              </a:rPr>
              <a:t>14(1),</a:t>
            </a:r>
            <a:r>
              <a:rPr dirty="0" sz="1900" spc="15">
                <a:solidFill>
                  <a:srgbClr val="333446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333446"/>
                </a:solidFill>
                <a:latin typeface="Lucida Sans Unicode"/>
                <a:cs typeface="Lucida Sans Unicode"/>
              </a:rPr>
              <a:t>2558881.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8856979"/>
            <a:ext cx="2315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80">
                <a:solidFill>
                  <a:srgbClr val="333446"/>
                </a:solidFill>
                <a:latin typeface="Arial Black"/>
                <a:cs typeface="Arial Black"/>
              </a:rPr>
              <a:t>+123-</a:t>
            </a:r>
            <a:r>
              <a:rPr dirty="0" sz="2400" spc="70">
                <a:solidFill>
                  <a:srgbClr val="333446"/>
                </a:solidFill>
                <a:latin typeface="Arial Black"/>
                <a:cs typeface="Arial Black"/>
              </a:rPr>
              <a:t>456-</a:t>
            </a:r>
            <a:r>
              <a:rPr dirty="0" sz="2400" spc="-140">
                <a:solidFill>
                  <a:srgbClr val="333446"/>
                </a:solidFill>
                <a:latin typeface="Arial Black"/>
                <a:cs typeface="Arial Black"/>
              </a:rPr>
              <a:t>7890</a:t>
            </a:r>
            <a:endParaRPr sz="2400">
              <a:latin typeface="Arial Black"/>
              <a:cs typeface="Arial Black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66184" y="0"/>
            <a:ext cx="14966315" cy="10287000"/>
            <a:chOff x="1666184" y="0"/>
            <a:chExt cx="14966315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6184" y="2713303"/>
              <a:ext cx="14965700" cy="485118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0958" y="0"/>
              <a:ext cx="11744339" cy="102869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872567" y="8856979"/>
            <a:ext cx="408812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5">
                <a:solidFill>
                  <a:srgbClr val="333446"/>
                </a:solidFill>
                <a:latin typeface="Arial Black"/>
                <a:cs typeface="Arial Black"/>
                <a:hlinkClick r:id="rId4"/>
              </a:rPr>
              <a:t>hello@reallygreatsite.com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83725" y="8856979"/>
            <a:ext cx="25882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>
                <a:solidFill>
                  <a:srgbClr val="333446"/>
                </a:solidFill>
                <a:latin typeface="Arial Black"/>
                <a:cs typeface="Arial Black"/>
              </a:rPr>
              <a:t>@reallygreatsite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698230" algn="l"/>
              </a:tabLst>
            </a:pPr>
            <a:r>
              <a:rPr dirty="0" spc="-875"/>
              <a:t>THANK</a:t>
            </a:r>
            <a:r>
              <a:rPr dirty="0"/>
              <a:t>	</a:t>
            </a:r>
            <a:r>
              <a:rPr dirty="0" spc="-2345"/>
              <a:t>Y</a:t>
            </a:r>
            <a:r>
              <a:rPr dirty="0" spc="-1680"/>
              <a:t>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4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2026-05-22T17:31:40Z</dcterms:created>
  <dcterms:modified xsi:type="dcterms:W3CDTF">2026-05-22T17:31:40Z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2026-05-22T00:00:00Z</vt:filetime>
  </property>
  <property fmtid="{D5CDD505-2E9C-101B-9397-08002B2CF9AE}" pid="3" name="LastSaved">
    <vt:filetime>2026-05-22T00:00:00Z</vt:filetime>
  </property>
  <property fmtid="{D5CDD505-2E9C-101B-9397-08002B2CF9AE}" pid="4" name="Producer">
    <vt:lpwstr>3-Heights(TM) PDF Security Shell 4.8.25.2 (http://www.pdf-tools.com)</vt:lpwstr>
  </property>
</Properties>
</file>